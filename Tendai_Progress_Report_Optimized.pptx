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2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B878-D300-F3BC-5365-64C133657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996C7-786C-59B7-BD43-C78A59F40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29412-496F-9F0C-189C-3E30458E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85232-0E71-17BA-77EE-0814BA79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3ED95-D935-94C5-2E7A-D99A4EB3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4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55F0-4B6B-5FCA-27F5-8A6B8BD9D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6BB6-400B-B8EE-C411-2B7AD35CC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3D565-985B-F101-D3E6-DE978887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52280-42CD-9607-0252-D0BC166D2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0C481-4F1A-28F5-AE55-12C227B3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4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9E83-3C95-3B5E-79CC-96B32E969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AE949-DED7-0A70-8E1C-254AAADC8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DF6D-0B61-CCD8-ADFA-54B19E08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C5E4C-5415-1568-473E-04DCAAE1C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C2EBD-55BC-49F0-CCEE-92231A52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9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7E02-4B4A-18E5-0F1D-3FF5ABA3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A2DD0-1D14-4D05-826F-68E79F529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0B119-CBAE-B72A-56EC-17F372586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4FF2B-DA27-8802-5DAE-C3AE14AD2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10B9B-CE40-86BF-D16D-0B5B8140A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DF6A0-D543-81C4-D131-2250B525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1B1B-AB20-B273-3E12-8CA09803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93064-9BB7-433B-A35E-873BDB699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C1F16-CD7C-74CA-90F1-F773198C1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BFB42-27CB-757B-BC34-EBE930B05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CFE059-20C0-EE8B-D567-BC6B5C036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BDD41-CB07-F1B6-9C8C-7DCDD2087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9A2FE-91BD-8318-9B90-F55CC477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187A5-E721-3246-650D-748C55581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8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6B12-3759-8E77-66DD-3F25AB9F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751F3-AA88-195B-0012-092B0B86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1219B-7FF2-708E-5F8F-A0F9F1DD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59E4D-60D6-6435-4E75-949FD733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7F2BC-89B0-83C6-3EB9-B6159362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8CC5F-0B33-0881-A0A0-9ABA00FB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89390-5F5A-AFB5-33A0-8BCE5375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8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8E9F-085A-FE3F-2A4E-F89DF528C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2D08F-96FD-4C9C-1E79-5C758929E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25FB8-4B4A-DFBB-24AA-9ECB8400E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CFCD4-6FC8-7E6E-1B25-8866B8AD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103E2-FF35-7405-786E-6300F0EB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D81F3-2F1B-8781-E555-81AC9D1A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0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89F7-2E9E-BE7F-D18A-B4E91496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D2A30-A9C5-C937-4FBD-464807580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8CE2F-DD93-12FB-6F05-4B779738B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D9F31-06F6-5E67-BA1D-D172E9AD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C5D84-D325-A6FB-6B01-0C35852E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6D474-FED7-5CC4-6C26-2C604368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5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ACA26-320D-0A04-E795-A4D6BBA8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312CE-F552-4236-25D3-ED122612A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C61F-9414-1414-6080-FB688867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D21-ED6B-0BAA-004E-622DE159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41C7C-FEE0-19B5-6ADB-70F22BBB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0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0CFCA-FA68-5026-6BCF-31FC883FC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6D81E-D481-CCE4-78FA-2F3FD8AA0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3A42-D081-FC8C-0367-128FF90BB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66EB5-F742-9F60-E715-4E25EA74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902DD-D9E4-76D2-9595-350CFEAE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3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E92AE-56A7-20F5-6C4B-97CDD8B9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28728-957F-5089-FA82-F15460238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3262E-2948-C93C-BA3C-89FFF02EA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B07A6-88D9-413C-AA14-127865AF8A1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9948-1398-6AAC-AC62-30C3B7647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33B0C-2743-2BFF-CC8E-9A004F162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A31B-3DEA-4DD7-A2B0-17B22CCDEB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9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72D04F-1955-032A-ABCB-3075A5E00443}"/>
              </a:ext>
            </a:extLst>
          </p:cNvPr>
          <p:cNvSpPr/>
          <p:nvPr/>
        </p:nvSpPr>
        <p:spPr>
          <a:xfrm>
            <a:off x="558800" y="711200"/>
            <a:ext cx="11074400" cy="543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2B8178-651D-F2D1-F479-BFAF180050F9}"/>
              </a:ext>
            </a:extLst>
          </p:cNvPr>
          <p:cNvSpPr/>
          <p:nvPr/>
        </p:nvSpPr>
        <p:spPr>
          <a:xfrm>
            <a:off x="558800" y="711200"/>
            <a:ext cx="11074400" cy="8636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42D29-D3D9-EA8D-C2C7-37B5C2812E7E}"/>
              </a:ext>
            </a:extLst>
          </p:cNvPr>
          <p:cNvSpPr txBox="1"/>
          <p:nvPr/>
        </p:nvSpPr>
        <p:spPr>
          <a:xfrm>
            <a:off x="889000" y="1016000"/>
            <a:ext cx="10160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</a:rPr>
              <a:t>Nutritional Value, Antinutrients and Glycemic Index of Finger Millet Varieties in Kenya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75916-A73C-00EB-2CF8-CBC334281B74}"/>
              </a:ext>
            </a:extLst>
          </p:cNvPr>
          <p:cNvSpPr txBox="1"/>
          <p:nvPr/>
        </p:nvSpPr>
        <p:spPr>
          <a:xfrm>
            <a:off x="889000" y="2184400"/>
            <a:ext cx="1016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B83024"/>
                </a:solidFill>
              </a:rPr>
              <a:t>Progress Report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0D010-AA91-ED56-3717-C579779B498C}"/>
              </a:ext>
            </a:extLst>
          </p:cNvPr>
          <p:cNvSpPr txBox="1"/>
          <p:nvPr/>
        </p:nvSpPr>
        <p:spPr>
          <a:xfrm>
            <a:off x="889000" y="28194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b="1">
                <a:solidFill>
                  <a:srgbClr val="111111"/>
                </a:solidFill>
              </a:rPr>
              <a:t>Tendai Murambidzi | AGF421-0499/2025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79AE7-27B5-26C9-FD42-AE1E24F7953C}"/>
              </a:ext>
            </a:extLst>
          </p:cNvPr>
          <p:cNvSpPr txBox="1"/>
          <p:nvPr/>
        </p:nvSpPr>
        <p:spPr>
          <a:xfrm>
            <a:off x="889000" y="32766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>
                <a:solidFill>
                  <a:srgbClr val="111111"/>
                </a:solidFill>
              </a:rPr>
              <a:t>Department of Human Nutrition Sciences, JKUAT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0B55A-504B-4A9B-2BEB-BB67E92C3D26}"/>
              </a:ext>
            </a:extLst>
          </p:cNvPr>
          <p:cNvSpPr txBox="1"/>
          <p:nvPr/>
        </p:nvSpPr>
        <p:spPr>
          <a:xfrm>
            <a:off x="889000" y="4165600"/>
            <a:ext cx="1016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>
                <a:solidFill>
                  <a:srgbClr val="7A7A7A"/>
                </a:solidFill>
              </a:rPr>
              <a:t>Supervisors: Prof. Anselimo Makokha | Dr. Dorothy Othoo | Prof. Mary Abukutsa-Onyango</a:t>
            </a:r>
          </a:p>
        </p:txBody>
      </p:sp>
    </p:spTree>
    <p:extLst>
      <p:ext uri="{BB962C8B-B14F-4D97-AF65-F5344CB8AC3E}">
        <p14:creationId xmlns:p14="http://schemas.microsoft.com/office/powerpoint/2010/main" val="31902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995496-D902-0037-4CF9-F32E68D35876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C36AE-AE5D-DE87-3F03-9BC737947353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Why This Study Matters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C1AB7-F125-A2E8-CC9C-3423A26FECB9}"/>
              </a:ext>
            </a:extLst>
          </p:cNvPr>
          <p:cNvSpPr txBox="1"/>
          <p:nvPr/>
        </p:nvSpPr>
        <p:spPr>
          <a:xfrm>
            <a:off x="8255000" y="228600"/>
            <a:ext cx="342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100">
                <a:solidFill>
                  <a:srgbClr val="F7F5F4"/>
                </a:solidFill>
              </a:rPr>
              <a:t>Finger millet progress deck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C58EC5-2537-D24D-E1D8-2A82E02264A4}"/>
              </a:ext>
            </a:extLst>
          </p:cNvPr>
          <p:cNvSpPr/>
          <p:nvPr/>
        </p:nvSpPr>
        <p:spPr>
          <a:xfrm>
            <a:off x="355600" y="939800"/>
            <a:ext cx="3632200" cy="2235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B5FBC6-087D-FF53-9E14-B4699577473D}"/>
              </a:ext>
            </a:extLst>
          </p:cNvPr>
          <p:cNvSpPr/>
          <p:nvPr/>
        </p:nvSpPr>
        <p:spPr>
          <a:xfrm>
            <a:off x="4279900" y="939800"/>
            <a:ext cx="3632200" cy="2235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D656BA-2037-B147-3F7F-D6481F8D3C14}"/>
              </a:ext>
            </a:extLst>
          </p:cNvPr>
          <p:cNvSpPr/>
          <p:nvPr/>
        </p:nvSpPr>
        <p:spPr>
          <a:xfrm>
            <a:off x="8204200" y="939800"/>
            <a:ext cx="3632200" cy="2235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A0E31-C1DB-FA6F-8AE1-96168BDD132C}"/>
              </a:ext>
            </a:extLst>
          </p:cNvPr>
          <p:cNvSpPr txBox="1"/>
          <p:nvPr/>
        </p:nvSpPr>
        <p:spPr>
          <a:xfrm>
            <a:off x="558800" y="1168400"/>
            <a:ext cx="317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412A1B"/>
                </a:solidFill>
              </a:rPr>
              <a:t>Food and nutrition security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85A8E-14FE-28BB-C7F5-3CE8B5071BA3}"/>
              </a:ext>
            </a:extLst>
          </p:cNvPr>
          <p:cNvSpPr txBox="1"/>
          <p:nvPr/>
        </p:nvSpPr>
        <p:spPr>
          <a:xfrm>
            <a:off x="558800" y="1549400"/>
            <a:ext cx="312420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Major staples face climate pressure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Kenya faces undernutrition and diabetes risk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Resilient nutrient-dense crops are needed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6733E6-9877-AC65-BA53-DE1CD64792DF}"/>
              </a:ext>
            </a:extLst>
          </p:cNvPr>
          <p:cNvSpPr txBox="1"/>
          <p:nvPr/>
        </p:nvSpPr>
        <p:spPr>
          <a:xfrm>
            <a:off x="4483100" y="1168400"/>
            <a:ext cx="317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412A1B"/>
                </a:solidFill>
              </a:rPr>
              <a:t>Why finger millet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3CCD2-77F4-07BA-F0B0-7E0ED6CC3714}"/>
              </a:ext>
            </a:extLst>
          </p:cNvPr>
          <p:cNvSpPr txBox="1"/>
          <p:nvPr/>
        </p:nvSpPr>
        <p:spPr>
          <a:xfrm>
            <a:off x="4483100" y="1549400"/>
            <a:ext cx="3124200" cy="9335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Climate-resilient and low-input crop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Good source of fibre, minerals and starch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Contains bioactive compounds with health 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4E3D53-8D84-BF30-EAB3-AF11C5D2360B}"/>
              </a:ext>
            </a:extLst>
          </p:cNvPr>
          <p:cNvSpPr txBox="1"/>
          <p:nvPr/>
        </p:nvSpPr>
        <p:spPr>
          <a:xfrm>
            <a:off x="8407400" y="1168400"/>
            <a:ext cx="3175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412A1B"/>
                </a:solidFill>
              </a:rPr>
              <a:t>Research gap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6135A5-AD48-DA23-F961-E7CA8482631A}"/>
              </a:ext>
            </a:extLst>
          </p:cNvPr>
          <p:cNvSpPr txBox="1"/>
          <p:nvPr/>
        </p:nvSpPr>
        <p:spPr>
          <a:xfrm>
            <a:off x="8407400" y="1549400"/>
            <a:ext cx="3124200" cy="11182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Limited Kenya-specific variety data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Processing effects are not fully characterized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Local GI data for finger millet foods remain limited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11020C-6C94-21CD-59DA-240171DBB1FC}"/>
              </a:ext>
            </a:extLst>
          </p:cNvPr>
          <p:cNvSpPr/>
          <p:nvPr/>
        </p:nvSpPr>
        <p:spPr>
          <a:xfrm>
            <a:off x="355600" y="3479800"/>
            <a:ext cx="11480800" cy="2336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84E32-40AE-65A8-C04B-CB11577A2DA2}"/>
              </a:ext>
            </a:extLst>
          </p:cNvPr>
          <p:cNvSpPr txBox="1"/>
          <p:nvPr/>
        </p:nvSpPr>
        <p:spPr>
          <a:xfrm>
            <a:off x="558800" y="3683000"/>
            <a:ext cx="10922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B83024"/>
                </a:solidFill>
              </a:rPr>
              <a:t>Main Objective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797BCB-11B1-F942-027E-D57637651654}"/>
              </a:ext>
            </a:extLst>
          </p:cNvPr>
          <p:cNvSpPr txBox="1"/>
          <p:nvPr/>
        </p:nvSpPr>
        <p:spPr>
          <a:xfrm>
            <a:off x="558800" y="4114800"/>
            <a:ext cx="10795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111111"/>
                </a:solidFill>
              </a:rPr>
              <a:t>Evaluate varietal differences in nutritional composition, antinutrients and bioactive compounds in Kenyan finger millet, and determine how processing methods influence these traits and glycemic index outcomes.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A97CE8-0381-FE9F-6E16-4CBE197D3F3A}"/>
              </a:ext>
            </a:extLst>
          </p:cNvPr>
          <p:cNvSpPr txBox="1"/>
          <p:nvPr/>
        </p:nvSpPr>
        <p:spPr>
          <a:xfrm>
            <a:off x="558800" y="5003800"/>
            <a:ext cx="1092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7A7A7A"/>
                </a:solidFill>
              </a:rPr>
              <a:t>Presentation note: keep this slide verbal and avoid reading full text.</a:t>
            </a:r>
          </a:p>
        </p:txBody>
      </p:sp>
    </p:spTree>
    <p:extLst>
      <p:ext uri="{BB962C8B-B14F-4D97-AF65-F5344CB8AC3E}">
        <p14:creationId xmlns:p14="http://schemas.microsoft.com/office/powerpoint/2010/main" val="232999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26AB42-873B-5EC4-EFD1-B19C2BA14912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C71E2-0776-0D54-BE58-B464246D3DBA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Study Workflow and Current Position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B03022-1834-0F1A-857A-782906A91F2A}"/>
              </a:ext>
            </a:extLst>
          </p:cNvPr>
          <p:cNvSpPr/>
          <p:nvPr/>
        </p:nvSpPr>
        <p:spPr>
          <a:xfrm>
            <a:off x="558800" y="1803400"/>
            <a:ext cx="309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983AAE-0D0B-3176-ED70-351882B0868E}"/>
              </a:ext>
            </a:extLst>
          </p:cNvPr>
          <p:cNvSpPr/>
          <p:nvPr/>
        </p:nvSpPr>
        <p:spPr>
          <a:xfrm>
            <a:off x="711200" y="20066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2A47C8"/>
          </a:solidFill>
          <a:ln>
            <a:solidFill>
              <a:srgbClr val="2A47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01280-E6E4-498A-C16F-5291000F1A44}"/>
              </a:ext>
            </a:extLst>
          </p:cNvPr>
          <p:cNvSpPr txBox="1"/>
          <p:nvPr/>
        </p:nvSpPr>
        <p:spPr>
          <a:xfrm>
            <a:off x="787400" y="2082800"/>
            <a:ext cx="990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B1059-C85E-D8CF-7DAA-595B03F6A4C9}"/>
              </a:ext>
            </a:extLst>
          </p:cNvPr>
          <p:cNvSpPr txBox="1"/>
          <p:nvPr/>
        </p:nvSpPr>
        <p:spPr>
          <a:xfrm>
            <a:off x="787400" y="2590800"/>
            <a:ext cx="26162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</a:rPr>
              <a:t>16 varieties screened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Proximate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Minerals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Antinutrients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Bioactives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0BBAB8-0D85-3FF2-2D2A-EEA9D736C129}"/>
              </a:ext>
            </a:extLst>
          </p:cNvPr>
          <p:cNvSpPr/>
          <p:nvPr/>
        </p:nvSpPr>
        <p:spPr>
          <a:xfrm>
            <a:off x="4318000" y="1803400"/>
            <a:ext cx="309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28CBB4-2BB4-7DB8-389E-027DFFD2308D}"/>
              </a:ext>
            </a:extLst>
          </p:cNvPr>
          <p:cNvSpPr/>
          <p:nvPr/>
        </p:nvSpPr>
        <p:spPr>
          <a:xfrm>
            <a:off x="4470400" y="20066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CF6E2D"/>
          </a:solidFill>
          <a:ln>
            <a:solidFill>
              <a:srgbClr val="CF6E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E07403-C1DB-9BCE-84B1-D24D74B5B3D6}"/>
              </a:ext>
            </a:extLst>
          </p:cNvPr>
          <p:cNvSpPr txBox="1"/>
          <p:nvPr/>
        </p:nvSpPr>
        <p:spPr>
          <a:xfrm>
            <a:off x="4546600" y="2082800"/>
            <a:ext cx="990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CB8584-16D8-6E46-41A7-E1EDCAE054F4}"/>
              </a:ext>
            </a:extLst>
          </p:cNvPr>
          <p:cNvSpPr txBox="1"/>
          <p:nvPr/>
        </p:nvSpPr>
        <p:spPr>
          <a:xfrm>
            <a:off x="4546600" y="2590800"/>
            <a:ext cx="26162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</a:rPr>
              <a:t>2 contrasting varieties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Soaking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Fermentation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Extrusion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294657-3379-573C-7462-A4EDF69E62A4}"/>
              </a:ext>
            </a:extLst>
          </p:cNvPr>
          <p:cNvSpPr/>
          <p:nvPr/>
        </p:nvSpPr>
        <p:spPr>
          <a:xfrm>
            <a:off x="8077200" y="1803400"/>
            <a:ext cx="30988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F90B6C-0894-3981-F99C-FC5DACC8A86A}"/>
              </a:ext>
            </a:extLst>
          </p:cNvPr>
          <p:cNvSpPr/>
          <p:nvPr/>
        </p:nvSpPr>
        <p:spPr>
          <a:xfrm>
            <a:off x="8229600" y="2006600"/>
            <a:ext cx="1143000" cy="355600"/>
          </a:xfrm>
          <a:prstGeom prst="roundRect">
            <a:avLst>
              <a:gd name="adj" fmla="val 12000"/>
            </a:avLst>
          </a:prstGeom>
          <a:solidFill>
            <a:srgbClr val="3B8B4C"/>
          </a:solidFill>
          <a:ln>
            <a:solidFill>
              <a:srgbClr val="3B8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54AE67-350B-74CB-0E19-141515F8E331}"/>
              </a:ext>
            </a:extLst>
          </p:cNvPr>
          <p:cNvSpPr txBox="1"/>
          <p:nvPr/>
        </p:nvSpPr>
        <p:spPr>
          <a:xfrm>
            <a:off x="8305800" y="2082800"/>
            <a:ext cx="9906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2D0D94-F5E4-FF6C-A1F4-688075A4FBED}"/>
              </a:ext>
            </a:extLst>
          </p:cNvPr>
          <p:cNvSpPr txBox="1"/>
          <p:nvPr/>
        </p:nvSpPr>
        <p:spPr>
          <a:xfrm>
            <a:off x="8305800" y="2590800"/>
            <a:ext cx="26162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</a:rPr>
              <a:t>Finger millet porridge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In vivo GI</a:t>
            </a:r>
          </a:p>
          <a:p>
            <a:pPr algn="ctr"/>
            <a:r>
              <a:rPr lang="en-US" sz="1500">
                <a:solidFill>
                  <a:srgbClr val="111111"/>
                </a:solidFill>
              </a:rPr>
              <a:t>Blood glucose response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60EE78-91AC-AD27-066C-C21484734E47}"/>
              </a:ext>
            </a:extLst>
          </p:cNvPr>
          <p:cNvSpPr txBox="1"/>
          <p:nvPr/>
        </p:nvSpPr>
        <p:spPr>
          <a:xfrm>
            <a:off x="558800" y="4597400"/>
            <a:ext cx="1092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412A1B"/>
                </a:solidFill>
              </a:rPr>
              <a:t>Progress logic for oral 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64AE5-DD8E-A699-90A3-1D8818FE98BD}"/>
              </a:ext>
            </a:extLst>
          </p:cNvPr>
          <p:cNvSpPr txBox="1"/>
          <p:nvPr/>
        </p:nvSpPr>
        <p:spPr>
          <a:xfrm>
            <a:off x="558800" y="4978400"/>
            <a:ext cx="10922000" cy="7950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Current report should emphasize Phase 1 findings because those have measurable results.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Processing and GI should be presented as the next analytical stage, not overloaded into current results.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Use Phase 1 results to justify selection of candidate varieties for the next phase.</a:t>
            </a:r>
          </a:p>
        </p:txBody>
      </p:sp>
    </p:spTree>
    <p:extLst>
      <p:ext uri="{BB962C8B-B14F-4D97-AF65-F5344CB8AC3E}">
        <p14:creationId xmlns:p14="http://schemas.microsoft.com/office/powerpoint/2010/main" val="129528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7CDDF9-CB0F-C96A-0951-4C4218BA21B2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3D8B3-D23B-1DF5-4EE1-1C1BA82B8658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Progress to Date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ECA64C-A200-C349-A68F-B28EED5AEB1B}"/>
              </a:ext>
            </a:extLst>
          </p:cNvPr>
          <p:cNvSpPr/>
          <p:nvPr/>
        </p:nvSpPr>
        <p:spPr>
          <a:xfrm>
            <a:off x="533400" y="1320800"/>
            <a:ext cx="21590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F8014-6457-42B8-9992-A26CC2A3E02A}"/>
              </a:ext>
            </a:extLst>
          </p:cNvPr>
          <p:cNvSpPr txBox="1"/>
          <p:nvPr/>
        </p:nvSpPr>
        <p:spPr>
          <a:xfrm>
            <a:off x="660400" y="1473200"/>
            <a:ext cx="190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Proposal refined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59A697-2D1F-8950-C4E2-9EBC939A6C3A}"/>
              </a:ext>
            </a:extLst>
          </p:cNvPr>
          <p:cNvSpPr/>
          <p:nvPr/>
        </p:nvSpPr>
        <p:spPr>
          <a:xfrm>
            <a:off x="660400" y="18796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3B8B4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DA8DD-6BD3-8ED4-34F1-9585E9460DBF}"/>
              </a:ext>
            </a:extLst>
          </p:cNvPr>
          <p:cNvSpPr txBox="1"/>
          <p:nvPr/>
        </p:nvSpPr>
        <p:spPr>
          <a:xfrm>
            <a:off x="711200" y="19304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C514DF-3343-4CA6-9B47-9FE6071E1A9E}"/>
              </a:ext>
            </a:extLst>
          </p:cNvPr>
          <p:cNvSpPr/>
          <p:nvPr/>
        </p:nvSpPr>
        <p:spPr>
          <a:xfrm>
            <a:off x="2870200" y="1320800"/>
            <a:ext cx="21590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CCEA1-550E-3251-344A-0A257D63249B}"/>
              </a:ext>
            </a:extLst>
          </p:cNvPr>
          <p:cNvSpPr txBox="1"/>
          <p:nvPr/>
        </p:nvSpPr>
        <p:spPr>
          <a:xfrm>
            <a:off x="2997200" y="1473200"/>
            <a:ext cx="190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Sample collection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5059EC-1A23-936B-E755-DE3E12FF1E9B}"/>
              </a:ext>
            </a:extLst>
          </p:cNvPr>
          <p:cNvSpPr/>
          <p:nvPr/>
        </p:nvSpPr>
        <p:spPr>
          <a:xfrm>
            <a:off x="2997200" y="18796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3B8B4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3D048-1782-58E8-1D18-31BDBE575CB8}"/>
              </a:ext>
            </a:extLst>
          </p:cNvPr>
          <p:cNvSpPr txBox="1"/>
          <p:nvPr/>
        </p:nvSpPr>
        <p:spPr>
          <a:xfrm>
            <a:off x="3048000" y="19304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5D2490-CB90-00DB-A3C1-2DC0A0FD4C25}"/>
              </a:ext>
            </a:extLst>
          </p:cNvPr>
          <p:cNvSpPr/>
          <p:nvPr/>
        </p:nvSpPr>
        <p:spPr>
          <a:xfrm>
            <a:off x="5207000" y="1320800"/>
            <a:ext cx="21590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9AA5DF-A40B-F1DA-199D-02CF384667AA}"/>
              </a:ext>
            </a:extLst>
          </p:cNvPr>
          <p:cNvSpPr txBox="1"/>
          <p:nvPr/>
        </p:nvSpPr>
        <p:spPr>
          <a:xfrm>
            <a:off x="5334000" y="1473200"/>
            <a:ext cx="190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Proximate 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7857DE-C1E0-C1F5-A9E4-4E53A10642E1}"/>
              </a:ext>
            </a:extLst>
          </p:cNvPr>
          <p:cNvSpPr/>
          <p:nvPr/>
        </p:nvSpPr>
        <p:spPr>
          <a:xfrm>
            <a:off x="5334000" y="18796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3B8B4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053370-8BEF-E409-467B-7EF8C15A6BA5}"/>
              </a:ext>
            </a:extLst>
          </p:cNvPr>
          <p:cNvSpPr txBox="1"/>
          <p:nvPr/>
        </p:nvSpPr>
        <p:spPr>
          <a:xfrm>
            <a:off x="5384800" y="19304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B3BC7A-F148-AD79-519A-AA119B324AEB}"/>
              </a:ext>
            </a:extLst>
          </p:cNvPr>
          <p:cNvSpPr/>
          <p:nvPr/>
        </p:nvSpPr>
        <p:spPr>
          <a:xfrm>
            <a:off x="7543800" y="1320800"/>
            <a:ext cx="21590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45E632-03DC-846D-9C41-5F60977F3F38}"/>
              </a:ext>
            </a:extLst>
          </p:cNvPr>
          <p:cNvSpPr txBox="1"/>
          <p:nvPr/>
        </p:nvSpPr>
        <p:spPr>
          <a:xfrm>
            <a:off x="7670800" y="1473200"/>
            <a:ext cx="190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Phytochemicals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124495-657D-667D-5C15-1372ED1F058F}"/>
              </a:ext>
            </a:extLst>
          </p:cNvPr>
          <p:cNvSpPr/>
          <p:nvPr/>
        </p:nvSpPr>
        <p:spPr>
          <a:xfrm>
            <a:off x="7670800" y="18796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3B8B4C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2E45A7-6F40-B427-1233-37D21D4723B0}"/>
              </a:ext>
            </a:extLst>
          </p:cNvPr>
          <p:cNvSpPr txBox="1"/>
          <p:nvPr/>
        </p:nvSpPr>
        <p:spPr>
          <a:xfrm>
            <a:off x="7721600" y="19304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30D8131-C46C-4E07-9F71-2D46BF550661}"/>
              </a:ext>
            </a:extLst>
          </p:cNvPr>
          <p:cNvSpPr/>
          <p:nvPr/>
        </p:nvSpPr>
        <p:spPr>
          <a:xfrm>
            <a:off x="9880600" y="1320800"/>
            <a:ext cx="17526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0B750-03E5-BF02-BAF3-94AF5DC1A214}"/>
              </a:ext>
            </a:extLst>
          </p:cNvPr>
          <p:cNvSpPr txBox="1"/>
          <p:nvPr/>
        </p:nvSpPr>
        <p:spPr>
          <a:xfrm>
            <a:off x="10007600" y="1473200"/>
            <a:ext cx="14986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Minerals/fat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02524F-81A1-6744-BF8D-1CC5F5854379}"/>
              </a:ext>
            </a:extLst>
          </p:cNvPr>
          <p:cNvSpPr/>
          <p:nvPr/>
        </p:nvSpPr>
        <p:spPr>
          <a:xfrm>
            <a:off x="10007600" y="18796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CF6E2D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278D2F-BBF7-9021-3855-B6286A727361}"/>
              </a:ext>
            </a:extLst>
          </p:cNvPr>
          <p:cNvSpPr txBox="1"/>
          <p:nvPr/>
        </p:nvSpPr>
        <p:spPr>
          <a:xfrm>
            <a:off x="10058400" y="19304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E21C630-D642-294D-3491-72BDD6B12998}"/>
              </a:ext>
            </a:extLst>
          </p:cNvPr>
          <p:cNvSpPr/>
          <p:nvPr/>
        </p:nvSpPr>
        <p:spPr>
          <a:xfrm>
            <a:off x="1701800" y="2870200"/>
            <a:ext cx="2590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CA2869-4D92-DA42-696D-6CFCE667B7E7}"/>
              </a:ext>
            </a:extLst>
          </p:cNvPr>
          <p:cNvSpPr txBox="1"/>
          <p:nvPr/>
        </p:nvSpPr>
        <p:spPr>
          <a:xfrm>
            <a:off x="1828800" y="3022600"/>
            <a:ext cx="2336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Processing trials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5868F9C-4F7F-1C6E-239B-91F9A25B19C9}"/>
              </a:ext>
            </a:extLst>
          </p:cNvPr>
          <p:cNvSpPr/>
          <p:nvPr/>
        </p:nvSpPr>
        <p:spPr>
          <a:xfrm>
            <a:off x="1828800" y="34290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A47C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7C7198-C2B8-801A-8532-0E4DFE063DFF}"/>
              </a:ext>
            </a:extLst>
          </p:cNvPr>
          <p:cNvSpPr txBox="1"/>
          <p:nvPr/>
        </p:nvSpPr>
        <p:spPr>
          <a:xfrm>
            <a:off x="1879600" y="34798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D7A1998-2F2C-6805-B329-22EF00C587D4}"/>
              </a:ext>
            </a:extLst>
          </p:cNvPr>
          <p:cNvSpPr/>
          <p:nvPr/>
        </p:nvSpPr>
        <p:spPr>
          <a:xfrm>
            <a:off x="4800600" y="2870200"/>
            <a:ext cx="2590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AAAC9-B9E9-8284-21A4-FFC64FC4951F}"/>
              </a:ext>
            </a:extLst>
          </p:cNvPr>
          <p:cNvSpPr txBox="1"/>
          <p:nvPr/>
        </p:nvSpPr>
        <p:spPr>
          <a:xfrm>
            <a:off x="4927600" y="3022600"/>
            <a:ext cx="2336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GI testing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61A8B29-83CC-0A42-25C3-E414852175E9}"/>
              </a:ext>
            </a:extLst>
          </p:cNvPr>
          <p:cNvSpPr/>
          <p:nvPr/>
        </p:nvSpPr>
        <p:spPr>
          <a:xfrm>
            <a:off x="4927600" y="34290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2A47C8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4CB30F-F052-1A30-D30F-1464C4A4ECF7}"/>
              </a:ext>
            </a:extLst>
          </p:cNvPr>
          <p:cNvSpPr txBox="1"/>
          <p:nvPr/>
        </p:nvSpPr>
        <p:spPr>
          <a:xfrm>
            <a:off x="4978400" y="34798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2CDA2BE-EE53-9951-70BF-CDE32116294D}"/>
              </a:ext>
            </a:extLst>
          </p:cNvPr>
          <p:cNvSpPr/>
          <p:nvPr/>
        </p:nvSpPr>
        <p:spPr>
          <a:xfrm>
            <a:off x="7899400" y="2870200"/>
            <a:ext cx="2590800" cy="111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FBAC4E-2628-D7F3-2294-B143A06C1AA0}"/>
              </a:ext>
            </a:extLst>
          </p:cNvPr>
          <p:cNvSpPr txBox="1"/>
          <p:nvPr/>
        </p:nvSpPr>
        <p:spPr>
          <a:xfrm>
            <a:off x="8026400" y="3022600"/>
            <a:ext cx="23368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412A1B"/>
                </a:solidFill>
              </a:rPr>
              <a:t>Thesis outputs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0E57D2E-3380-E11A-2851-845F1D1786C9}"/>
              </a:ext>
            </a:extLst>
          </p:cNvPr>
          <p:cNvSpPr/>
          <p:nvPr/>
        </p:nvSpPr>
        <p:spPr>
          <a:xfrm>
            <a:off x="8026400" y="3429000"/>
            <a:ext cx="1193800" cy="330200"/>
          </a:xfrm>
          <a:prstGeom prst="roundRect">
            <a:avLst>
              <a:gd name="adj" fmla="val 12000"/>
            </a:avLst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B83024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8039CA-249C-C9C1-E578-C860615411C8}"/>
              </a:ext>
            </a:extLst>
          </p:cNvPr>
          <p:cNvSpPr txBox="1"/>
          <p:nvPr/>
        </p:nvSpPr>
        <p:spPr>
          <a:xfrm>
            <a:off x="8077200" y="3479800"/>
            <a:ext cx="10922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Ongoing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CF1823-9FA0-00BB-9DA1-4A497DFD5650}"/>
              </a:ext>
            </a:extLst>
          </p:cNvPr>
          <p:cNvSpPr/>
          <p:nvPr/>
        </p:nvSpPr>
        <p:spPr>
          <a:xfrm>
            <a:off x="533400" y="4495800"/>
            <a:ext cx="110998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B64D75-5B0D-8891-4A93-504484855219}"/>
              </a:ext>
            </a:extLst>
          </p:cNvPr>
          <p:cNvSpPr txBox="1"/>
          <p:nvPr/>
        </p:nvSpPr>
        <p:spPr>
          <a:xfrm>
            <a:off x="736600" y="4699000"/>
            <a:ext cx="10693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412A1B"/>
                </a:solidFill>
              </a:rPr>
              <a:t>Progress discussion points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AA6D3E-9395-7954-D948-948249390F4E}"/>
              </a:ext>
            </a:extLst>
          </p:cNvPr>
          <p:cNvSpPr txBox="1"/>
          <p:nvPr/>
        </p:nvSpPr>
        <p:spPr>
          <a:xfrm>
            <a:off x="736600" y="5054600"/>
            <a:ext cx="10668000" cy="7950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Current data are strong enough to report clear varietal differences in proximate and phytochemical profile.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The next technical step is to use these results to justify which varieties move into processing studies.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Keep the progress report focused on achieved results plus the immediate analytical next steps.</a:t>
            </a:r>
          </a:p>
        </p:txBody>
      </p:sp>
    </p:spTree>
    <p:extLst>
      <p:ext uri="{BB962C8B-B14F-4D97-AF65-F5344CB8AC3E}">
        <p14:creationId xmlns:p14="http://schemas.microsoft.com/office/powerpoint/2010/main" val="28918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9FDB4C-DCE9-1000-70D1-8FAFFBF0D2B0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8C5A1-D087-7CE0-D752-D682704F2DAE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Results Overview: Proximate Composition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963938-20B9-4282-1F56-6362325713C7}"/>
              </a:ext>
            </a:extLst>
          </p:cNvPr>
          <p:cNvSpPr/>
          <p:nvPr/>
        </p:nvSpPr>
        <p:spPr>
          <a:xfrm>
            <a:off x="355600" y="990600"/>
            <a:ext cx="5524500" cy="218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BE57F-88E3-5FB0-0E1C-D820C924FD84}"/>
              </a:ext>
            </a:extLst>
          </p:cNvPr>
          <p:cNvSpPr txBox="1"/>
          <p:nvPr/>
        </p:nvSpPr>
        <p:spPr>
          <a:xfrm>
            <a:off x="508000" y="1092200"/>
            <a:ext cx="52197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Highest protein varieties (%)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DB96C8-608C-B948-ECE4-C9D12D8C7E32}"/>
              </a:ext>
            </a:extLst>
          </p:cNvPr>
          <p:cNvSpPr txBox="1"/>
          <p:nvPr/>
        </p:nvSpPr>
        <p:spPr>
          <a:xfrm>
            <a:off x="482600" y="13970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35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CC6B4E-15AA-F297-2584-24B55E32D700}"/>
              </a:ext>
            </a:extLst>
          </p:cNvPr>
          <p:cNvSpPr/>
          <p:nvPr/>
        </p:nvSpPr>
        <p:spPr>
          <a:xfrm>
            <a:off x="1625600" y="14605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C0D60-4D3D-4E67-CD44-F4DE3DF8BF9C}"/>
              </a:ext>
            </a:extLst>
          </p:cNvPr>
          <p:cNvSpPr/>
          <p:nvPr/>
        </p:nvSpPr>
        <p:spPr>
          <a:xfrm>
            <a:off x="1625600" y="1460500"/>
            <a:ext cx="32385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7243A-0939-8034-9DBC-43AB6DBEB8B3}"/>
              </a:ext>
            </a:extLst>
          </p:cNvPr>
          <p:cNvSpPr txBox="1"/>
          <p:nvPr/>
        </p:nvSpPr>
        <p:spPr>
          <a:xfrm>
            <a:off x="4940300" y="13843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6.84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04F4C-F0C9-52D1-A7CC-B576C8FF78B1}"/>
              </a:ext>
            </a:extLst>
          </p:cNvPr>
          <p:cNvSpPr txBox="1"/>
          <p:nvPr/>
        </p:nvSpPr>
        <p:spPr>
          <a:xfrm>
            <a:off x="482600" y="16721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27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355F3-761F-4B76-6848-114B636E42E7}"/>
              </a:ext>
            </a:extLst>
          </p:cNvPr>
          <p:cNvSpPr/>
          <p:nvPr/>
        </p:nvSpPr>
        <p:spPr>
          <a:xfrm>
            <a:off x="1625600" y="17356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01ECC-E3ED-C3EE-793E-C873F6454BD6}"/>
              </a:ext>
            </a:extLst>
          </p:cNvPr>
          <p:cNvSpPr/>
          <p:nvPr/>
        </p:nvSpPr>
        <p:spPr>
          <a:xfrm>
            <a:off x="1625600" y="1735667"/>
            <a:ext cx="29464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D8288-367B-FD2C-6DA0-B672A70DB0E6}"/>
              </a:ext>
            </a:extLst>
          </p:cNvPr>
          <p:cNvSpPr txBox="1"/>
          <p:nvPr/>
        </p:nvSpPr>
        <p:spPr>
          <a:xfrm>
            <a:off x="4940300" y="16594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6.22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C3E0E-1C5F-6099-769A-F2C468F3B70A}"/>
              </a:ext>
            </a:extLst>
          </p:cNvPr>
          <p:cNvSpPr txBox="1"/>
          <p:nvPr/>
        </p:nvSpPr>
        <p:spPr>
          <a:xfrm>
            <a:off x="482600" y="1947333"/>
            <a:ext cx="11176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ICFX1420421-3-6-1-1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A7B5E4-C102-C5E4-50B0-180E3E6AB4EE}"/>
              </a:ext>
            </a:extLst>
          </p:cNvPr>
          <p:cNvSpPr/>
          <p:nvPr/>
        </p:nvSpPr>
        <p:spPr>
          <a:xfrm>
            <a:off x="1625600" y="20108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C937DC-067A-240B-06A5-1A5A38776302}"/>
              </a:ext>
            </a:extLst>
          </p:cNvPr>
          <p:cNvSpPr/>
          <p:nvPr/>
        </p:nvSpPr>
        <p:spPr>
          <a:xfrm>
            <a:off x="1625600" y="2010833"/>
            <a:ext cx="27686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ECEA89-E643-4591-4706-AF6FDA40E37F}"/>
              </a:ext>
            </a:extLst>
          </p:cNvPr>
          <p:cNvSpPr txBox="1"/>
          <p:nvPr/>
        </p:nvSpPr>
        <p:spPr>
          <a:xfrm>
            <a:off x="4940300" y="19346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B1ED48-AFFD-89D1-ED85-F0090E2EFED0}"/>
              </a:ext>
            </a:extLst>
          </p:cNvPr>
          <p:cNvSpPr txBox="1"/>
          <p:nvPr/>
        </p:nvSpPr>
        <p:spPr>
          <a:xfrm>
            <a:off x="482600" y="22225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EMIROITE-5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9D88F8-F261-24A1-8C57-5EE129CDA955}"/>
              </a:ext>
            </a:extLst>
          </p:cNvPr>
          <p:cNvSpPr/>
          <p:nvPr/>
        </p:nvSpPr>
        <p:spPr>
          <a:xfrm>
            <a:off x="1625600" y="22860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84C41C-B258-4E93-80BB-F4C0108FDF62}"/>
              </a:ext>
            </a:extLst>
          </p:cNvPr>
          <p:cNvSpPr/>
          <p:nvPr/>
        </p:nvSpPr>
        <p:spPr>
          <a:xfrm>
            <a:off x="1625600" y="2286000"/>
            <a:ext cx="27305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95B880-FFA9-168E-4896-EA30A91E4C9C}"/>
              </a:ext>
            </a:extLst>
          </p:cNvPr>
          <p:cNvSpPr txBox="1"/>
          <p:nvPr/>
        </p:nvSpPr>
        <p:spPr>
          <a:xfrm>
            <a:off x="4940300" y="22098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5.77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737CCC-A435-E2AD-0EDA-EF6EA21C0128}"/>
              </a:ext>
            </a:extLst>
          </p:cNvPr>
          <p:cNvSpPr txBox="1"/>
          <p:nvPr/>
        </p:nvSpPr>
        <p:spPr>
          <a:xfrm>
            <a:off x="482600" y="24976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GBK 029646A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929988-7525-6995-34DB-E4BCA0D19264}"/>
              </a:ext>
            </a:extLst>
          </p:cNvPr>
          <p:cNvSpPr/>
          <p:nvPr/>
        </p:nvSpPr>
        <p:spPr>
          <a:xfrm>
            <a:off x="1625600" y="25611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E7B330-18B0-4AAE-6BDF-A392FFB0E3B2}"/>
              </a:ext>
            </a:extLst>
          </p:cNvPr>
          <p:cNvSpPr/>
          <p:nvPr/>
        </p:nvSpPr>
        <p:spPr>
          <a:xfrm>
            <a:off x="1625600" y="2561167"/>
            <a:ext cx="27178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CC052B-73C0-2CB0-A443-59BB42C4644B}"/>
              </a:ext>
            </a:extLst>
          </p:cNvPr>
          <p:cNvSpPr txBox="1"/>
          <p:nvPr/>
        </p:nvSpPr>
        <p:spPr>
          <a:xfrm>
            <a:off x="4940300" y="24849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5.75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7ADD4E-33DD-E345-085E-BDF6DD3362AB}"/>
              </a:ext>
            </a:extLst>
          </p:cNvPr>
          <p:cNvSpPr txBox="1"/>
          <p:nvPr/>
        </p:nvSpPr>
        <p:spPr>
          <a:xfrm>
            <a:off x="482600" y="27728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11B1D4-4E38-60CA-715E-99B5125BA1BC}"/>
              </a:ext>
            </a:extLst>
          </p:cNvPr>
          <p:cNvSpPr/>
          <p:nvPr/>
        </p:nvSpPr>
        <p:spPr>
          <a:xfrm>
            <a:off x="1625600" y="28363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CD0EA-B54A-43AF-459C-F1A9BDE36891}"/>
              </a:ext>
            </a:extLst>
          </p:cNvPr>
          <p:cNvSpPr/>
          <p:nvPr/>
        </p:nvSpPr>
        <p:spPr>
          <a:xfrm>
            <a:off x="1625600" y="2836333"/>
            <a:ext cx="26670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AAED6A-FDF0-18AD-61A4-7CFFB5330B54}"/>
              </a:ext>
            </a:extLst>
          </p:cNvPr>
          <p:cNvSpPr txBox="1"/>
          <p:nvPr/>
        </p:nvSpPr>
        <p:spPr>
          <a:xfrm>
            <a:off x="4940300" y="27601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5.63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85DAC51-1F20-F316-C5F4-5C7F693BD0BC}"/>
              </a:ext>
            </a:extLst>
          </p:cNvPr>
          <p:cNvSpPr/>
          <p:nvPr/>
        </p:nvSpPr>
        <p:spPr>
          <a:xfrm>
            <a:off x="6311900" y="990600"/>
            <a:ext cx="5524500" cy="218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B575C5-68DC-EF84-35C9-43E2B709F419}"/>
              </a:ext>
            </a:extLst>
          </p:cNvPr>
          <p:cNvSpPr txBox="1"/>
          <p:nvPr/>
        </p:nvSpPr>
        <p:spPr>
          <a:xfrm>
            <a:off x="6464300" y="1092200"/>
            <a:ext cx="52197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Highest crude fibre varieties (%)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E1C53C-DD91-FB28-3D8B-D33845FB443D}"/>
              </a:ext>
            </a:extLst>
          </p:cNvPr>
          <p:cNvSpPr txBox="1"/>
          <p:nvPr/>
        </p:nvSpPr>
        <p:spPr>
          <a:xfrm>
            <a:off x="6438900" y="13970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IKHULULE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4F3223-5A62-6F39-25F4-90C7E2157853}"/>
              </a:ext>
            </a:extLst>
          </p:cNvPr>
          <p:cNvSpPr/>
          <p:nvPr/>
        </p:nvSpPr>
        <p:spPr>
          <a:xfrm>
            <a:off x="7581900" y="14605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E18027-7A64-DB25-44DC-5FD3941FC138}"/>
              </a:ext>
            </a:extLst>
          </p:cNvPr>
          <p:cNvSpPr/>
          <p:nvPr/>
        </p:nvSpPr>
        <p:spPr>
          <a:xfrm>
            <a:off x="7581900" y="1460500"/>
            <a:ext cx="3238500" cy="127000"/>
          </a:xfrm>
          <a:prstGeom prst="rect">
            <a:avLst/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61973A-EABD-F111-A75A-8149931D7ECD}"/>
              </a:ext>
            </a:extLst>
          </p:cNvPr>
          <p:cNvSpPr txBox="1"/>
          <p:nvPr/>
        </p:nvSpPr>
        <p:spPr>
          <a:xfrm>
            <a:off x="10896600" y="13843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6.64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ED2EE3-1ADB-0A10-3FBA-3DC97B4C1BA3}"/>
              </a:ext>
            </a:extLst>
          </p:cNvPr>
          <p:cNvSpPr txBox="1"/>
          <p:nvPr/>
        </p:nvSpPr>
        <p:spPr>
          <a:xfrm>
            <a:off x="6438900" y="16721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ICFX142608-4-1-1-1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B4FBA6-F866-4BFB-29BE-E8BBCF227199}"/>
              </a:ext>
            </a:extLst>
          </p:cNvPr>
          <p:cNvSpPr/>
          <p:nvPr/>
        </p:nvSpPr>
        <p:spPr>
          <a:xfrm>
            <a:off x="7581900" y="17356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2A991E3-BB0C-84F9-3B43-3875877D0C9D}"/>
              </a:ext>
            </a:extLst>
          </p:cNvPr>
          <p:cNvSpPr/>
          <p:nvPr/>
        </p:nvSpPr>
        <p:spPr>
          <a:xfrm>
            <a:off x="7581900" y="1735667"/>
            <a:ext cx="2832100" cy="127000"/>
          </a:xfrm>
          <a:prstGeom prst="rect">
            <a:avLst/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23DF94-23CE-66B0-DBD7-42F737E656DD}"/>
              </a:ext>
            </a:extLst>
          </p:cNvPr>
          <p:cNvSpPr txBox="1"/>
          <p:nvPr/>
        </p:nvSpPr>
        <p:spPr>
          <a:xfrm>
            <a:off x="10896600" y="16594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5.82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A0A3F9-A0A9-2FA5-10B4-80E31CD06734}"/>
              </a:ext>
            </a:extLst>
          </p:cNvPr>
          <p:cNvSpPr txBox="1"/>
          <p:nvPr/>
        </p:nvSpPr>
        <p:spPr>
          <a:xfrm>
            <a:off x="6438900" y="19473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12AEE76-61D7-59F9-CDC2-727A55DD22CF}"/>
              </a:ext>
            </a:extLst>
          </p:cNvPr>
          <p:cNvSpPr/>
          <p:nvPr/>
        </p:nvSpPr>
        <p:spPr>
          <a:xfrm>
            <a:off x="7581900" y="20108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1A24A9-1C19-0D17-45E2-DBBF19AAE2C1}"/>
              </a:ext>
            </a:extLst>
          </p:cNvPr>
          <p:cNvSpPr/>
          <p:nvPr/>
        </p:nvSpPr>
        <p:spPr>
          <a:xfrm>
            <a:off x="7581900" y="2010833"/>
            <a:ext cx="2819400" cy="127000"/>
          </a:xfrm>
          <a:prstGeom prst="rect">
            <a:avLst/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88C3DC-8475-CD2C-A136-AECE5A0DCC17}"/>
              </a:ext>
            </a:extLst>
          </p:cNvPr>
          <p:cNvSpPr txBox="1"/>
          <p:nvPr/>
        </p:nvSpPr>
        <p:spPr>
          <a:xfrm>
            <a:off x="10896600" y="19346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4E62E5-F3B8-B073-A06F-4799AD1E6EE6}"/>
              </a:ext>
            </a:extLst>
          </p:cNvPr>
          <p:cNvSpPr txBox="1"/>
          <p:nvPr/>
        </p:nvSpPr>
        <p:spPr>
          <a:xfrm>
            <a:off x="6438900" y="22225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15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84EE193-24E8-506C-D312-27B4BCF5090C}"/>
              </a:ext>
            </a:extLst>
          </p:cNvPr>
          <p:cNvSpPr/>
          <p:nvPr/>
        </p:nvSpPr>
        <p:spPr>
          <a:xfrm>
            <a:off x="7581900" y="22860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7FD625-0BD5-D8D9-EE0E-1FAAC45AC71F}"/>
              </a:ext>
            </a:extLst>
          </p:cNvPr>
          <p:cNvSpPr/>
          <p:nvPr/>
        </p:nvSpPr>
        <p:spPr>
          <a:xfrm>
            <a:off x="7581900" y="2286000"/>
            <a:ext cx="2806700" cy="127000"/>
          </a:xfrm>
          <a:prstGeom prst="rect">
            <a:avLst/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C8E99A-7B7E-EE96-8F32-E38C071DCA67}"/>
              </a:ext>
            </a:extLst>
          </p:cNvPr>
          <p:cNvSpPr txBox="1"/>
          <p:nvPr/>
        </p:nvSpPr>
        <p:spPr>
          <a:xfrm>
            <a:off x="10896600" y="22098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5.76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DCF82-6292-C198-3C35-155C48F2FA22}"/>
              </a:ext>
            </a:extLst>
          </p:cNvPr>
          <p:cNvSpPr txBox="1"/>
          <p:nvPr/>
        </p:nvSpPr>
        <p:spPr>
          <a:xfrm>
            <a:off x="6438900" y="24976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35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09558C-FE11-9FF4-7EED-19C81DDFF602}"/>
              </a:ext>
            </a:extLst>
          </p:cNvPr>
          <p:cNvSpPr/>
          <p:nvPr/>
        </p:nvSpPr>
        <p:spPr>
          <a:xfrm>
            <a:off x="7581900" y="25611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72A8BCE-9C3D-1F0C-8331-88A177677146}"/>
              </a:ext>
            </a:extLst>
          </p:cNvPr>
          <p:cNvSpPr/>
          <p:nvPr/>
        </p:nvSpPr>
        <p:spPr>
          <a:xfrm>
            <a:off x="7581900" y="2561167"/>
            <a:ext cx="2679700" cy="127000"/>
          </a:xfrm>
          <a:prstGeom prst="rect">
            <a:avLst/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4D77BF-0E8F-8CC0-0216-4D4D199FCBA6}"/>
              </a:ext>
            </a:extLst>
          </p:cNvPr>
          <p:cNvSpPr txBox="1"/>
          <p:nvPr/>
        </p:nvSpPr>
        <p:spPr>
          <a:xfrm>
            <a:off x="10896600" y="24849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5.48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F0240E-83AE-E4B1-BF02-99D9DEFC8815}"/>
              </a:ext>
            </a:extLst>
          </p:cNvPr>
          <p:cNvSpPr txBox="1"/>
          <p:nvPr/>
        </p:nvSpPr>
        <p:spPr>
          <a:xfrm>
            <a:off x="6438900" y="27728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KACCIMI 42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54DDFC2-80D4-5FF7-60A6-E6A7A4D1D31E}"/>
              </a:ext>
            </a:extLst>
          </p:cNvPr>
          <p:cNvSpPr/>
          <p:nvPr/>
        </p:nvSpPr>
        <p:spPr>
          <a:xfrm>
            <a:off x="7581900" y="28363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334FB67-B1E2-B35A-7042-BA53CD6D97AE}"/>
              </a:ext>
            </a:extLst>
          </p:cNvPr>
          <p:cNvSpPr/>
          <p:nvPr/>
        </p:nvSpPr>
        <p:spPr>
          <a:xfrm>
            <a:off x="7581900" y="2836333"/>
            <a:ext cx="2628900" cy="127000"/>
          </a:xfrm>
          <a:prstGeom prst="rect">
            <a:avLst/>
          </a:prstGeom>
          <a:solidFill>
            <a:srgbClr val="3B8B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C9861D-CFBB-99BA-3EB1-60CEB3E1ADDC}"/>
              </a:ext>
            </a:extLst>
          </p:cNvPr>
          <p:cNvSpPr txBox="1"/>
          <p:nvPr/>
        </p:nvSpPr>
        <p:spPr>
          <a:xfrm>
            <a:off x="10896600" y="27601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5.40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954AF47-AF4F-0C72-C6EE-82F43FC93286}"/>
              </a:ext>
            </a:extLst>
          </p:cNvPr>
          <p:cNvSpPr/>
          <p:nvPr/>
        </p:nvSpPr>
        <p:spPr>
          <a:xfrm>
            <a:off x="355600" y="3429000"/>
            <a:ext cx="5524500" cy="218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8B70E9-E45F-0B43-B8C4-C271847C7B72}"/>
              </a:ext>
            </a:extLst>
          </p:cNvPr>
          <p:cNvSpPr txBox="1"/>
          <p:nvPr/>
        </p:nvSpPr>
        <p:spPr>
          <a:xfrm>
            <a:off x="508000" y="3530600"/>
            <a:ext cx="52197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Highest ash varieties (%)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33968B-24A2-4226-9100-9343CDC2BBDA}"/>
              </a:ext>
            </a:extLst>
          </p:cNvPr>
          <p:cNvSpPr txBox="1"/>
          <p:nvPr/>
        </p:nvSpPr>
        <p:spPr>
          <a:xfrm>
            <a:off x="482600" y="38354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6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502C048-E977-DD11-1665-F9909E63F06E}"/>
              </a:ext>
            </a:extLst>
          </p:cNvPr>
          <p:cNvSpPr/>
          <p:nvPr/>
        </p:nvSpPr>
        <p:spPr>
          <a:xfrm>
            <a:off x="1625600" y="38989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9CDA43-45D6-BEE4-4B63-49078C9DC238}"/>
              </a:ext>
            </a:extLst>
          </p:cNvPr>
          <p:cNvSpPr/>
          <p:nvPr/>
        </p:nvSpPr>
        <p:spPr>
          <a:xfrm>
            <a:off x="1625600" y="3898900"/>
            <a:ext cx="32385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F0EDA9-A379-B467-0ACC-25805949EA24}"/>
              </a:ext>
            </a:extLst>
          </p:cNvPr>
          <p:cNvSpPr txBox="1"/>
          <p:nvPr/>
        </p:nvSpPr>
        <p:spPr>
          <a:xfrm>
            <a:off x="4940300" y="38227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4.74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129D07-CB58-18A9-1287-4D9C97B01401}"/>
              </a:ext>
            </a:extLst>
          </p:cNvPr>
          <p:cNvSpPr txBox="1"/>
          <p:nvPr/>
        </p:nvSpPr>
        <p:spPr>
          <a:xfrm>
            <a:off x="482600" y="41105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IKHULULE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778B43D-8DFF-D382-A5D5-38A8EEFB7BC3}"/>
              </a:ext>
            </a:extLst>
          </p:cNvPr>
          <p:cNvSpPr/>
          <p:nvPr/>
        </p:nvSpPr>
        <p:spPr>
          <a:xfrm>
            <a:off x="1625600" y="41740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C1D2078-9E07-B754-F9B1-89EA425EBFD6}"/>
              </a:ext>
            </a:extLst>
          </p:cNvPr>
          <p:cNvSpPr/>
          <p:nvPr/>
        </p:nvSpPr>
        <p:spPr>
          <a:xfrm>
            <a:off x="1625600" y="4174067"/>
            <a:ext cx="29210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F76252-A5E5-FC4A-A3EE-F1691C9E5F5B}"/>
              </a:ext>
            </a:extLst>
          </p:cNvPr>
          <p:cNvSpPr txBox="1"/>
          <p:nvPr/>
        </p:nvSpPr>
        <p:spPr>
          <a:xfrm>
            <a:off x="4940300" y="40978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4.28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BD39AF-5BCA-0641-FFCC-DC654FE7F188}"/>
              </a:ext>
            </a:extLst>
          </p:cNvPr>
          <p:cNvSpPr txBox="1"/>
          <p:nvPr/>
        </p:nvSpPr>
        <p:spPr>
          <a:xfrm>
            <a:off x="482600" y="43857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IE 4115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DE513E5-5ED9-6FD5-9554-62835A7D806D}"/>
              </a:ext>
            </a:extLst>
          </p:cNvPr>
          <p:cNvSpPr/>
          <p:nvPr/>
        </p:nvSpPr>
        <p:spPr>
          <a:xfrm>
            <a:off x="1625600" y="44492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AF51D20-FD3A-F50A-D0E7-C80C785CE2F1}"/>
              </a:ext>
            </a:extLst>
          </p:cNvPr>
          <p:cNvSpPr/>
          <p:nvPr/>
        </p:nvSpPr>
        <p:spPr>
          <a:xfrm>
            <a:off x="1625600" y="4449233"/>
            <a:ext cx="25273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76DE1F-92E2-0609-1716-9325D42B92E8}"/>
              </a:ext>
            </a:extLst>
          </p:cNvPr>
          <p:cNvSpPr txBox="1"/>
          <p:nvPr/>
        </p:nvSpPr>
        <p:spPr>
          <a:xfrm>
            <a:off x="4940300" y="43730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3.71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BF7F507-817F-5A93-8BE5-D7F223C911F4}"/>
              </a:ext>
            </a:extLst>
          </p:cNvPr>
          <p:cNvSpPr txBox="1"/>
          <p:nvPr/>
        </p:nvSpPr>
        <p:spPr>
          <a:xfrm>
            <a:off x="482600" y="46609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GBK 029646A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950ECE4-3412-648B-2109-D70DDA8F25F3}"/>
              </a:ext>
            </a:extLst>
          </p:cNvPr>
          <p:cNvSpPr/>
          <p:nvPr/>
        </p:nvSpPr>
        <p:spPr>
          <a:xfrm>
            <a:off x="1625600" y="47244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BA36732-18A1-3622-8C06-501FA65E3A4D}"/>
              </a:ext>
            </a:extLst>
          </p:cNvPr>
          <p:cNvSpPr/>
          <p:nvPr/>
        </p:nvSpPr>
        <p:spPr>
          <a:xfrm>
            <a:off x="1625600" y="4724400"/>
            <a:ext cx="25019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EB2A9B-5F47-541A-6B46-A26F25BF67DF}"/>
              </a:ext>
            </a:extLst>
          </p:cNvPr>
          <p:cNvSpPr txBox="1"/>
          <p:nvPr/>
        </p:nvSpPr>
        <p:spPr>
          <a:xfrm>
            <a:off x="4940300" y="46482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3.66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9E58AC-E8BA-F78B-944F-4CFB6F0214A6}"/>
              </a:ext>
            </a:extLst>
          </p:cNvPr>
          <p:cNvSpPr txBox="1"/>
          <p:nvPr/>
        </p:nvSpPr>
        <p:spPr>
          <a:xfrm>
            <a:off x="482600" y="49360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27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32E9394-E532-9AC1-9F56-3DB3FEBD8A36}"/>
              </a:ext>
            </a:extLst>
          </p:cNvPr>
          <p:cNvSpPr/>
          <p:nvPr/>
        </p:nvSpPr>
        <p:spPr>
          <a:xfrm>
            <a:off x="1625600" y="49995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A31946C-56C0-747B-94E5-F54590A83707}"/>
              </a:ext>
            </a:extLst>
          </p:cNvPr>
          <p:cNvSpPr/>
          <p:nvPr/>
        </p:nvSpPr>
        <p:spPr>
          <a:xfrm>
            <a:off x="1625600" y="4999567"/>
            <a:ext cx="23622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8EC92D-0892-72BF-FFBF-1EB51168BE07}"/>
              </a:ext>
            </a:extLst>
          </p:cNvPr>
          <p:cNvSpPr txBox="1"/>
          <p:nvPr/>
        </p:nvSpPr>
        <p:spPr>
          <a:xfrm>
            <a:off x="4940300" y="49233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3.46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EEAC4C4-3C1C-55CF-CCBB-BBE1B03EAA95}"/>
              </a:ext>
            </a:extLst>
          </p:cNvPr>
          <p:cNvSpPr txBox="1"/>
          <p:nvPr/>
        </p:nvSpPr>
        <p:spPr>
          <a:xfrm>
            <a:off x="482600" y="52112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35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5EAF36C-44B0-3E8B-0E93-14B11CFFAF19}"/>
              </a:ext>
            </a:extLst>
          </p:cNvPr>
          <p:cNvSpPr/>
          <p:nvPr/>
        </p:nvSpPr>
        <p:spPr>
          <a:xfrm>
            <a:off x="1625600" y="52747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7DCA612-A41B-2C7C-5535-7E0E3E00483E}"/>
              </a:ext>
            </a:extLst>
          </p:cNvPr>
          <p:cNvSpPr/>
          <p:nvPr/>
        </p:nvSpPr>
        <p:spPr>
          <a:xfrm>
            <a:off x="1625600" y="5274733"/>
            <a:ext cx="22352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0D0882-1B1B-0C0C-57E7-224384FE5277}"/>
              </a:ext>
            </a:extLst>
          </p:cNvPr>
          <p:cNvSpPr txBox="1"/>
          <p:nvPr/>
        </p:nvSpPr>
        <p:spPr>
          <a:xfrm>
            <a:off x="4940300" y="51985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3.27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94A596B-19C6-88EC-47C7-B91995F5E8A9}"/>
              </a:ext>
            </a:extLst>
          </p:cNvPr>
          <p:cNvSpPr/>
          <p:nvPr/>
        </p:nvSpPr>
        <p:spPr>
          <a:xfrm>
            <a:off x="6311900" y="3429000"/>
            <a:ext cx="5524500" cy="218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7E52C5-9521-D364-8C62-662C09114C4A}"/>
              </a:ext>
            </a:extLst>
          </p:cNvPr>
          <p:cNvSpPr txBox="1"/>
          <p:nvPr/>
        </p:nvSpPr>
        <p:spPr>
          <a:xfrm>
            <a:off x="6464300" y="3530600"/>
            <a:ext cx="52197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Highest moisture varieties (%)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0EBDC5-1D6C-D4BA-F97F-CC04C2113E4D}"/>
              </a:ext>
            </a:extLst>
          </p:cNvPr>
          <p:cNvSpPr txBox="1"/>
          <p:nvPr/>
        </p:nvSpPr>
        <p:spPr>
          <a:xfrm>
            <a:off x="6438900" y="38354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IKHULULE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48EBC7F-274C-A426-FCA5-8883092D8224}"/>
              </a:ext>
            </a:extLst>
          </p:cNvPr>
          <p:cNvSpPr/>
          <p:nvPr/>
        </p:nvSpPr>
        <p:spPr>
          <a:xfrm>
            <a:off x="7581900" y="38989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43FFEB1-FD3E-9A5B-E65E-25A84E4F3A24}"/>
              </a:ext>
            </a:extLst>
          </p:cNvPr>
          <p:cNvSpPr/>
          <p:nvPr/>
        </p:nvSpPr>
        <p:spPr>
          <a:xfrm>
            <a:off x="7581900" y="3898900"/>
            <a:ext cx="32385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ED49E5-A477-544D-F4F4-1D2E06E08AB8}"/>
              </a:ext>
            </a:extLst>
          </p:cNvPr>
          <p:cNvSpPr txBox="1"/>
          <p:nvPr/>
        </p:nvSpPr>
        <p:spPr>
          <a:xfrm>
            <a:off x="10896600" y="38227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11.60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509CD1C-7E2B-E301-47E3-6282FF71BA9C}"/>
              </a:ext>
            </a:extLst>
          </p:cNvPr>
          <p:cNvSpPr txBox="1"/>
          <p:nvPr/>
        </p:nvSpPr>
        <p:spPr>
          <a:xfrm>
            <a:off x="6438900" y="41105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ICFX142591-2-2-1-1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E5A825-819F-6702-A17D-786C8E44D880}"/>
              </a:ext>
            </a:extLst>
          </p:cNvPr>
          <p:cNvSpPr/>
          <p:nvPr/>
        </p:nvSpPr>
        <p:spPr>
          <a:xfrm>
            <a:off x="7581900" y="41740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554F097-3F75-7A24-9966-1F3F119F1DDA}"/>
              </a:ext>
            </a:extLst>
          </p:cNvPr>
          <p:cNvSpPr/>
          <p:nvPr/>
        </p:nvSpPr>
        <p:spPr>
          <a:xfrm>
            <a:off x="7581900" y="4174067"/>
            <a:ext cx="32385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DAED86-E0DB-5B5E-A9E1-20FA85A25B05}"/>
              </a:ext>
            </a:extLst>
          </p:cNvPr>
          <p:cNvSpPr txBox="1"/>
          <p:nvPr/>
        </p:nvSpPr>
        <p:spPr>
          <a:xfrm>
            <a:off x="10896600" y="40978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11.60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5069F4-99E3-54A7-F16B-D65F963006C2}"/>
              </a:ext>
            </a:extLst>
          </p:cNvPr>
          <p:cNvSpPr txBox="1"/>
          <p:nvPr/>
        </p:nvSpPr>
        <p:spPr>
          <a:xfrm>
            <a:off x="6438900" y="43857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ACC 29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8399C0F-F905-797E-925F-BB1FABDA09FB}"/>
              </a:ext>
            </a:extLst>
          </p:cNvPr>
          <p:cNvSpPr/>
          <p:nvPr/>
        </p:nvSpPr>
        <p:spPr>
          <a:xfrm>
            <a:off x="7581900" y="44492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D7D22CE-CBBF-981B-7C53-CA213096E7FF}"/>
              </a:ext>
            </a:extLst>
          </p:cNvPr>
          <p:cNvSpPr/>
          <p:nvPr/>
        </p:nvSpPr>
        <p:spPr>
          <a:xfrm>
            <a:off x="7581900" y="4449233"/>
            <a:ext cx="32258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3E5C7AB-E86D-85A5-925A-A1514278E174}"/>
              </a:ext>
            </a:extLst>
          </p:cNvPr>
          <p:cNvSpPr txBox="1"/>
          <p:nvPr/>
        </p:nvSpPr>
        <p:spPr>
          <a:xfrm>
            <a:off x="10896600" y="43730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11.55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A694213-BC50-7C4A-14BF-098A69456F1F}"/>
              </a:ext>
            </a:extLst>
          </p:cNvPr>
          <p:cNvSpPr txBox="1"/>
          <p:nvPr/>
        </p:nvSpPr>
        <p:spPr>
          <a:xfrm>
            <a:off x="6438900" y="46609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581AA1E-51F7-8126-A7FA-6709A8711F99}"/>
              </a:ext>
            </a:extLst>
          </p:cNvPr>
          <p:cNvSpPr/>
          <p:nvPr/>
        </p:nvSpPr>
        <p:spPr>
          <a:xfrm>
            <a:off x="7581900" y="4724400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420BAA0-B566-AB26-7A5B-19A78A5E7A07}"/>
              </a:ext>
            </a:extLst>
          </p:cNvPr>
          <p:cNvSpPr/>
          <p:nvPr/>
        </p:nvSpPr>
        <p:spPr>
          <a:xfrm>
            <a:off x="7581900" y="4724400"/>
            <a:ext cx="32131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3C9FA27-1D64-40CB-8429-264900A7D40F}"/>
              </a:ext>
            </a:extLst>
          </p:cNvPr>
          <p:cNvSpPr txBox="1"/>
          <p:nvPr/>
        </p:nvSpPr>
        <p:spPr>
          <a:xfrm>
            <a:off x="10896600" y="46482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11.52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CB230DC-A221-07E8-AB80-8A23180DF1FA}"/>
              </a:ext>
            </a:extLst>
          </p:cNvPr>
          <p:cNvSpPr txBox="1"/>
          <p:nvPr/>
        </p:nvSpPr>
        <p:spPr>
          <a:xfrm>
            <a:off x="6438900" y="4936067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KACCIMI 42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64AD730-4BB5-4935-DC15-0B1079AE6824}"/>
              </a:ext>
            </a:extLst>
          </p:cNvPr>
          <p:cNvSpPr/>
          <p:nvPr/>
        </p:nvSpPr>
        <p:spPr>
          <a:xfrm>
            <a:off x="7581900" y="4999567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701F15E-6FBB-4A87-9606-CFEC83265CC4}"/>
              </a:ext>
            </a:extLst>
          </p:cNvPr>
          <p:cNvSpPr/>
          <p:nvPr/>
        </p:nvSpPr>
        <p:spPr>
          <a:xfrm>
            <a:off x="7581900" y="4999567"/>
            <a:ext cx="32131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DA2FF37-8CE3-15C4-F16F-488095E80966}"/>
              </a:ext>
            </a:extLst>
          </p:cNvPr>
          <p:cNvSpPr txBox="1"/>
          <p:nvPr/>
        </p:nvSpPr>
        <p:spPr>
          <a:xfrm>
            <a:off x="10896600" y="4923367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11.49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63A2D42-AE5A-CF98-5D2D-D4E118778C7E}"/>
              </a:ext>
            </a:extLst>
          </p:cNvPr>
          <p:cNvSpPr txBox="1"/>
          <p:nvPr/>
        </p:nvSpPr>
        <p:spPr>
          <a:xfrm>
            <a:off x="6438900" y="5211233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EMIROITE-5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213A475-B61F-81FC-24DB-47EC9C404ADE}"/>
              </a:ext>
            </a:extLst>
          </p:cNvPr>
          <p:cNvSpPr/>
          <p:nvPr/>
        </p:nvSpPr>
        <p:spPr>
          <a:xfrm>
            <a:off x="7581900" y="5274733"/>
            <a:ext cx="32385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0470BE6-D9AD-FA79-1EA4-32B2A610C0AE}"/>
              </a:ext>
            </a:extLst>
          </p:cNvPr>
          <p:cNvSpPr/>
          <p:nvPr/>
        </p:nvSpPr>
        <p:spPr>
          <a:xfrm>
            <a:off x="7581900" y="5274733"/>
            <a:ext cx="31877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CA32FC9-AB48-6166-6A0D-8C689FAC6293}"/>
              </a:ext>
            </a:extLst>
          </p:cNvPr>
          <p:cNvSpPr txBox="1"/>
          <p:nvPr/>
        </p:nvSpPr>
        <p:spPr>
          <a:xfrm>
            <a:off x="10896600" y="5198533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11.41</a:t>
            </a:r>
          </a:p>
        </p:txBody>
      </p:sp>
    </p:spTree>
    <p:extLst>
      <p:ext uri="{BB962C8B-B14F-4D97-AF65-F5344CB8AC3E}">
        <p14:creationId xmlns:p14="http://schemas.microsoft.com/office/powerpoint/2010/main" val="206347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752052-28A8-89F1-762E-4A78793224F4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BB711-E6E5-0B6C-53B5-EC0EB943A202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Consolidated Proximate Results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C44AC-B5D4-6AD9-246C-B23C3011880C}"/>
              </a:ext>
            </a:extLst>
          </p:cNvPr>
          <p:cNvSpPr txBox="1"/>
          <p:nvPr/>
        </p:nvSpPr>
        <p:spPr>
          <a:xfrm>
            <a:off x="8255000" y="228600"/>
            <a:ext cx="342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100">
                <a:solidFill>
                  <a:srgbClr val="F7F5F4"/>
                </a:solidFill>
              </a:rPr>
              <a:t>16 varieties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4626F7-EA4F-6708-6CBB-8DB7D5F0A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780819"/>
              </p:ext>
            </p:extLst>
          </p:nvPr>
        </p:nvGraphicFramePr>
        <p:xfrm>
          <a:off x="304800" y="914400"/>
          <a:ext cx="115824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1641348873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803607094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343096953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770169257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14141267"/>
                    </a:ext>
                  </a:extLst>
                </a:gridCol>
              </a:tblGrid>
              <a:tr h="300318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Variety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Moisture (%)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Ash (%)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Crude fibre (%)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Protein (%)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335941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IE 4115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10.87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3.71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5.37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5.12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346257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ACC 29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11.55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3.08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3.50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4.40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673473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EMIROITE-5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11.41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2.51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4.33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5.77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716476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GBK 029646A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11.08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3.66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4.68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5.75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087657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ICFX1420421-3-6-1-1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10.60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2.89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4.89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5.84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200911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ICFX142591-2-2-1-1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11.60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2.94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4.85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3.90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397353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ICFX142608-4-1-1-1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11.01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2.90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5.82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5.37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676939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IKHULULE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11.60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4.28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6.64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4.27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909278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KACCIMI 42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11.49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1.15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5.40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4.39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51309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15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10.98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2.79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5.76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4.99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91485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27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10.73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3.46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3.74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6.22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322047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35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10.61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3.27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5.48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6.84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279448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4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11.52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3.21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4.73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5.40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347846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11.22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2.82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5.79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5.63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106627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6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11.10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4.74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3.95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3.75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674432"/>
                  </a:ext>
                </a:extLst>
              </a:tr>
              <a:tr h="300318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U-15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10.91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2.69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4.27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4.37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947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072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AEAFC8-788C-393A-0693-732317A5EAA8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D96272-4367-8984-3F00-2FA9ED218EF4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Results Overview: Phytochemicals and Tannins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0B81F6-3595-306D-D556-4C1B273B2EB5}"/>
              </a:ext>
            </a:extLst>
          </p:cNvPr>
          <p:cNvSpPr/>
          <p:nvPr/>
        </p:nvSpPr>
        <p:spPr>
          <a:xfrm>
            <a:off x="355600" y="1092200"/>
            <a:ext cx="3683000" cy="414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D4177-7D12-3382-B57C-42C812DF2666}"/>
              </a:ext>
            </a:extLst>
          </p:cNvPr>
          <p:cNvSpPr txBox="1"/>
          <p:nvPr/>
        </p:nvSpPr>
        <p:spPr>
          <a:xfrm>
            <a:off x="508000" y="1193800"/>
            <a:ext cx="33782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Phenol (mg/100g)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A9FA7-4E9F-1F40-717B-8CFF7CF21D5B}"/>
              </a:ext>
            </a:extLst>
          </p:cNvPr>
          <p:cNvSpPr txBox="1"/>
          <p:nvPr/>
        </p:nvSpPr>
        <p:spPr>
          <a:xfrm>
            <a:off x="482600" y="14986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U-15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0B112-3B4B-54E0-EBA5-EA0E08224DCA}"/>
              </a:ext>
            </a:extLst>
          </p:cNvPr>
          <p:cNvSpPr/>
          <p:nvPr/>
        </p:nvSpPr>
        <p:spPr>
          <a:xfrm>
            <a:off x="1625600" y="15621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E228D-5D32-F753-7638-AEC45F45711F}"/>
              </a:ext>
            </a:extLst>
          </p:cNvPr>
          <p:cNvSpPr/>
          <p:nvPr/>
        </p:nvSpPr>
        <p:spPr>
          <a:xfrm>
            <a:off x="1625600" y="1562100"/>
            <a:ext cx="13970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EBBDF-A627-1F41-10C7-B6A5628D6D3F}"/>
              </a:ext>
            </a:extLst>
          </p:cNvPr>
          <p:cNvSpPr txBox="1"/>
          <p:nvPr/>
        </p:nvSpPr>
        <p:spPr>
          <a:xfrm>
            <a:off x="3098800" y="14859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92.5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38892-9828-CE50-0F61-1D2623D3C951}"/>
              </a:ext>
            </a:extLst>
          </p:cNvPr>
          <p:cNvSpPr txBox="1"/>
          <p:nvPr/>
        </p:nvSpPr>
        <p:spPr>
          <a:xfrm>
            <a:off x="482600" y="19494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35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2BE6B8-9ED5-9411-0CED-1A9EFA5EBA81}"/>
              </a:ext>
            </a:extLst>
          </p:cNvPr>
          <p:cNvSpPr/>
          <p:nvPr/>
        </p:nvSpPr>
        <p:spPr>
          <a:xfrm>
            <a:off x="1625600" y="20129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2FF18-9EED-1046-0236-56D8B473A6DC}"/>
              </a:ext>
            </a:extLst>
          </p:cNvPr>
          <p:cNvSpPr/>
          <p:nvPr/>
        </p:nvSpPr>
        <p:spPr>
          <a:xfrm>
            <a:off x="1625600" y="2012950"/>
            <a:ext cx="12192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CBAB3-5776-9154-0040-F67BFE84BBBB}"/>
              </a:ext>
            </a:extLst>
          </p:cNvPr>
          <p:cNvSpPr txBox="1"/>
          <p:nvPr/>
        </p:nvSpPr>
        <p:spPr>
          <a:xfrm>
            <a:off x="3098800" y="19367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80.5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915C8-3912-7AEA-0EFD-68632E532062}"/>
              </a:ext>
            </a:extLst>
          </p:cNvPr>
          <p:cNvSpPr txBox="1"/>
          <p:nvPr/>
        </p:nvSpPr>
        <p:spPr>
          <a:xfrm>
            <a:off x="482600" y="24003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EMIROITE-5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C0CE3C-06C5-6173-202F-00CF61ABF353}"/>
              </a:ext>
            </a:extLst>
          </p:cNvPr>
          <p:cNvSpPr/>
          <p:nvPr/>
        </p:nvSpPr>
        <p:spPr>
          <a:xfrm>
            <a:off x="1625600" y="24638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3EDC53-9268-E20F-6B69-F85BD3C65250}"/>
              </a:ext>
            </a:extLst>
          </p:cNvPr>
          <p:cNvSpPr/>
          <p:nvPr/>
        </p:nvSpPr>
        <p:spPr>
          <a:xfrm>
            <a:off x="1625600" y="2463800"/>
            <a:ext cx="11303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37019D-2D25-632A-CBE4-62608C760745}"/>
              </a:ext>
            </a:extLst>
          </p:cNvPr>
          <p:cNvSpPr txBox="1"/>
          <p:nvPr/>
        </p:nvSpPr>
        <p:spPr>
          <a:xfrm>
            <a:off x="3098800" y="23876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75.3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295019-C60E-FB9A-BEE1-1AA20856E6A2}"/>
              </a:ext>
            </a:extLst>
          </p:cNvPr>
          <p:cNvSpPr txBox="1"/>
          <p:nvPr/>
        </p:nvSpPr>
        <p:spPr>
          <a:xfrm>
            <a:off x="482600" y="28511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52C991-173E-B973-6665-DF1F9ABD7DEC}"/>
              </a:ext>
            </a:extLst>
          </p:cNvPr>
          <p:cNvSpPr/>
          <p:nvPr/>
        </p:nvSpPr>
        <p:spPr>
          <a:xfrm>
            <a:off x="1625600" y="29146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33A8EB-4C2A-0E53-C523-D091094813FF}"/>
              </a:ext>
            </a:extLst>
          </p:cNvPr>
          <p:cNvSpPr/>
          <p:nvPr/>
        </p:nvSpPr>
        <p:spPr>
          <a:xfrm>
            <a:off x="1625600" y="2914650"/>
            <a:ext cx="8128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AEB5E-48EB-45FB-4055-E34AF69F6EDC}"/>
              </a:ext>
            </a:extLst>
          </p:cNvPr>
          <p:cNvSpPr txBox="1"/>
          <p:nvPr/>
        </p:nvSpPr>
        <p:spPr>
          <a:xfrm>
            <a:off x="3098800" y="28384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53.4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B67FE-8BE4-2BB5-CC94-36F44669D760}"/>
              </a:ext>
            </a:extLst>
          </p:cNvPr>
          <p:cNvSpPr txBox="1"/>
          <p:nvPr/>
        </p:nvSpPr>
        <p:spPr>
          <a:xfrm>
            <a:off x="482600" y="33020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ACC 29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9A768F-F826-2859-7AC4-DEB84BF069C8}"/>
              </a:ext>
            </a:extLst>
          </p:cNvPr>
          <p:cNvSpPr/>
          <p:nvPr/>
        </p:nvSpPr>
        <p:spPr>
          <a:xfrm>
            <a:off x="1625600" y="33655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EA9146-81E7-CE1C-71D7-32DED1F767BF}"/>
              </a:ext>
            </a:extLst>
          </p:cNvPr>
          <p:cNvSpPr/>
          <p:nvPr/>
        </p:nvSpPr>
        <p:spPr>
          <a:xfrm>
            <a:off x="1625600" y="3365500"/>
            <a:ext cx="8001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5980B-455C-2C5B-6038-95A9049E126A}"/>
              </a:ext>
            </a:extLst>
          </p:cNvPr>
          <p:cNvSpPr txBox="1"/>
          <p:nvPr/>
        </p:nvSpPr>
        <p:spPr>
          <a:xfrm>
            <a:off x="3098800" y="32893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52.9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32A5B7-EF32-49EB-FBAF-702A6D2388BD}"/>
              </a:ext>
            </a:extLst>
          </p:cNvPr>
          <p:cNvSpPr txBox="1"/>
          <p:nvPr/>
        </p:nvSpPr>
        <p:spPr>
          <a:xfrm>
            <a:off x="482600" y="37528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IE 4115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4DB94B-33B4-CB88-C236-1B015FB3F283}"/>
              </a:ext>
            </a:extLst>
          </p:cNvPr>
          <p:cNvSpPr/>
          <p:nvPr/>
        </p:nvSpPr>
        <p:spPr>
          <a:xfrm>
            <a:off x="1625600" y="38163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56BD12-918B-C972-9ECE-A4DDBE04682C}"/>
              </a:ext>
            </a:extLst>
          </p:cNvPr>
          <p:cNvSpPr/>
          <p:nvPr/>
        </p:nvSpPr>
        <p:spPr>
          <a:xfrm>
            <a:off x="1625600" y="3816350"/>
            <a:ext cx="6858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DEEDBA-8D5F-7FDD-5ADC-674DAB6D71EB}"/>
              </a:ext>
            </a:extLst>
          </p:cNvPr>
          <p:cNvSpPr txBox="1"/>
          <p:nvPr/>
        </p:nvSpPr>
        <p:spPr>
          <a:xfrm>
            <a:off x="3098800" y="37401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45.4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A5A972-411C-357F-FA0F-16E2132C2EEA}"/>
              </a:ext>
            </a:extLst>
          </p:cNvPr>
          <p:cNvSpPr txBox="1"/>
          <p:nvPr/>
        </p:nvSpPr>
        <p:spPr>
          <a:xfrm>
            <a:off x="482600" y="42037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D5251C-676D-25BB-F158-1D0708200764}"/>
              </a:ext>
            </a:extLst>
          </p:cNvPr>
          <p:cNvSpPr/>
          <p:nvPr/>
        </p:nvSpPr>
        <p:spPr>
          <a:xfrm>
            <a:off x="1625600" y="42672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E4C580-8EA1-4A69-365C-CFD448B6E696}"/>
              </a:ext>
            </a:extLst>
          </p:cNvPr>
          <p:cNvSpPr/>
          <p:nvPr/>
        </p:nvSpPr>
        <p:spPr>
          <a:xfrm>
            <a:off x="1625600" y="4267200"/>
            <a:ext cx="6096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791512-EA4C-953E-B846-870C3336494F}"/>
              </a:ext>
            </a:extLst>
          </p:cNvPr>
          <p:cNvSpPr txBox="1"/>
          <p:nvPr/>
        </p:nvSpPr>
        <p:spPr>
          <a:xfrm>
            <a:off x="3098800" y="41910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40.6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B27BAE-3FD6-C69C-682F-C80C496A3A74}"/>
              </a:ext>
            </a:extLst>
          </p:cNvPr>
          <p:cNvSpPr txBox="1"/>
          <p:nvPr/>
        </p:nvSpPr>
        <p:spPr>
          <a:xfrm>
            <a:off x="482600" y="46545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27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18BACE-18C7-B03B-51EA-4E9515C857B1}"/>
              </a:ext>
            </a:extLst>
          </p:cNvPr>
          <p:cNvSpPr/>
          <p:nvPr/>
        </p:nvSpPr>
        <p:spPr>
          <a:xfrm>
            <a:off x="1625600" y="47180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78D8F9-F0AB-EB19-148E-217B19D1C834}"/>
              </a:ext>
            </a:extLst>
          </p:cNvPr>
          <p:cNvSpPr/>
          <p:nvPr/>
        </p:nvSpPr>
        <p:spPr>
          <a:xfrm>
            <a:off x="1625600" y="4718050"/>
            <a:ext cx="571500" cy="127000"/>
          </a:xfrm>
          <a:prstGeom prst="rect">
            <a:avLst/>
          </a:prstGeom>
          <a:solidFill>
            <a:srgbClr val="B830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ED9B47-608F-20ED-C823-C427422CACF7}"/>
              </a:ext>
            </a:extLst>
          </p:cNvPr>
          <p:cNvSpPr txBox="1"/>
          <p:nvPr/>
        </p:nvSpPr>
        <p:spPr>
          <a:xfrm>
            <a:off x="3098800" y="46418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37.7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5857052-C3B7-E30B-743F-D8E4276B805C}"/>
              </a:ext>
            </a:extLst>
          </p:cNvPr>
          <p:cNvSpPr/>
          <p:nvPr/>
        </p:nvSpPr>
        <p:spPr>
          <a:xfrm>
            <a:off x="4254500" y="1092200"/>
            <a:ext cx="3683000" cy="414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579140-86A3-C8AD-3BD8-74E9322FFD2E}"/>
              </a:ext>
            </a:extLst>
          </p:cNvPr>
          <p:cNvSpPr txBox="1"/>
          <p:nvPr/>
        </p:nvSpPr>
        <p:spPr>
          <a:xfrm>
            <a:off x="4406900" y="1193800"/>
            <a:ext cx="33782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Flavonoids (g/100g)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D105B6-38B7-38DF-F947-CEAA048617B6}"/>
              </a:ext>
            </a:extLst>
          </p:cNvPr>
          <p:cNvSpPr txBox="1"/>
          <p:nvPr/>
        </p:nvSpPr>
        <p:spPr>
          <a:xfrm>
            <a:off x="4381500" y="14986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2C29FDA-346E-ACED-3A90-3287EEBB401D}"/>
              </a:ext>
            </a:extLst>
          </p:cNvPr>
          <p:cNvSpPr/>
          <p:nvPr/>
        </p:nvSpPr>
        <p:spPr>
          <a:xfrm>
            <a:off x="5524500" y="15621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D67064-4867-82EF-5370-812B1D7E74AD}"/>
              </a:ext>
            </a:extLst>
          </p:cNvPr>
          <p:cNvSpPr/>
          <p:nvPr/>
        </p:nvSpPr>
        <p:spPr>
          <a:xfrm>
            <a:off x="5524500" y="1562100"/>
            <a:ext cx="13970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75F311-EECF-E9A9-EA9C-0E9EF043A958}"/>
              </a:ext>
            </a:extLst>
          </p:cNvPr>
          <p:cNvSpPr txBox="1"/>
          <p:nvPr/>
        </p:nvSpPr>
        <p:spPr>
          <a:xfrm>
            <a:off x="6997700" y="14859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3.75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60E025-9411-AA44-A0CF-04D327266201}"/>
              </a:ext>
            </a:extLst>
          </p:cNvPr>
          <p:cNvSpPr txBox="1"/>
          <p:nvPr/>
        </p:nvSpPr>
        <p:spPr>
          <a:xfrm>
            <a:off x="4381500" y="19494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27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9E8C61-155B-93A2-FB33-770086E71DF1}"/>
              </a:ext>
            </a:extLst>
          </p:cNvPr>
          <p:cNvSpPr/>
          <p:nvPr/>
        </p:nvSpPr>
        <p:spPr>
          <a:xfrm>
            <a:off x="5524500" y="20129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D4AF79-BFEB-4C74-2728-72F52C4D77A5}"/>
              </a:ext>
            </a:extLst>
          </p:cNvPr>
          <p:cNvSpPr/>
          <p:nvPr/>
        </p:nvSpPr>
        <p:spPr>
          <a:xfrm>
            <a:off x="5524500" y="2012950"/>
            <a:ext cx="13843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4B8B19-88F4-CB0A-D3E6-E57B55BD061D}"/>
              </a:ext>
            </a:extLst>
          </p:cNvPr>
          <p:cNvSpPr txBox="1"/>
          <p:nvPr/>
        </p:nvSpPr>
        <p:spPr>
          <a:xfrm>
            <a:off x="6997700" y="19367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3.71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5C9ED1-1992-99DD-1EAB-B79B450317C4}"/>
              </a:ext>
            </a:extLst>
          </p:cNvPr>
          <p:cNvSpPr txBox="1"/>
          <p:nvPr/>
        </p:nvSpPr>
        <p:spPr>
          <a:xfrm>
            <a:off x="4381500" y="24003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IE 4115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797330-30F4-E444-48B7-BC775B3D0E9B}"/>
              </a:ext>
            </a:extLst>
          </p:cNvPr>
          <p:cNvSpPr/>
          <p:nvPr/>
        </p:nvSpPr>
        <p:spPr>
          <a:xfrm>
            <a:off x="5524500" y="24638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BFEFA5-0D75-24EA-7399-A9762EEADB29}"/>
              </a:ext>
            </a:extLst>
          </p:cNvPr>
          <p:cNvSpPr/>
          <p:nvPr/>
        </p:nvSpPr>
        <p:spPr>
          <a:xfrm>
            <a:off x="5524500" y="2463800"/>
            <a:ext cx="12827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705507-F979-2A70-F372-3EAC2F099722}"/>
              </a:ext>
            </a:extLst>
          </p:cNvPr>
          <p:cNvSpPr txBox="1"/>
          <p:nvPr/>
        </p:nvSpPr>
        <p:spPr>
          <a:xfrm>
            <a:off x="6997700" y="23876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3.43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3471F7-0DC7-115C-5C81-CC4125630B42}"/>
              </a:ext>
            </a:extLst>
          </p:cNvPr>
          <p:cNvSpPr txBox="1"/>
          <p:nvPr/>
        </p:nvSpPr>
        <p:spPr>
          <a:xfrm>
            <a:off x="4381500" y="28511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U-15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732110-47D8-C96B-EF30-7A25206EBB57}"/>
              </a:ext>
            </a:extLst>
          </p:cNvPr>
          <p:cNvSpPr/>
          <p:nvPr/>
        </p:nvSpPr>
        <p:spPr>
          <a:xfrm>
            <a:off x="5524500" y="29146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A606D17-7703-D4FE-7FBC-D9B426B81D15}"/>
              </a:ext>
            </a:extLst>
          </p:cNvPr>
          <p:cNvSpPr/>
          <p:nvPr/>
        </p:nvSpPr>
        <p:spPr>
          <a:xfrm>
            <a:off x="5524500" y="2914650"/>
            <a:ext cx="8509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DFA45A-C9D5-7C23-8DB8-729BFC1F735E}"/>
              </a:ext>
            </a:extLst>
          </p:cNvPr>
          <p:cNvSpPr txBox="1"/>
          <p:nvPr/>
        </p:nvSpPr>
        <p:spPr>
          <a:xfrm>
            <a:off x="6997700" y="28384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2.28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5DDAD9-D14A-F2E8-350B-2BA46476039A}"/>
              </a:ext>
            </a:extLst>
          </p:cNvPr>
          <p:cNvSpPr txBox="1"/>
          <p:nvPr/>
        </p:nvSpPr>
        <p:spPr>
          <a:xfrm>
            <a:off x="4381500" y="33020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35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026E0F-81B4-4838-C0E9-AB2E45E9F735}"/>
              </a:ext>
            </a:extLst>
          </p:cNvPr>
          <p:cNvSpPr/>
          <p:nvPr/>
        </p:nvSpPr>
        <p:spPr>
          <a:xfrm>
            <a:off x="5524500" y="33655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A0C5545-9A36-D790-3EE2-CFF28D81772B}"/>
              </a:ext>
            </a:extLst>
          </p:cNvPr>
          <p:cNvSpPr/>
          <p:nvPr/>
        </p:nvSpPr>
        <p:spPr>
          <a:xfrm>
            <a:off x="5524500" y="3365500"/>
            <a:ext cx="7874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CD626D-434F-B9C0-FB53-07AD45A1A8DE}"/>
              </a:ext>
            </a:extLst>
          </p:cNvPr>
          <p:cNvSpPr txBox="1"/>
          <p:nvPr/>
        </p:nvSpPr>
        <p:spPr>
          <a:xfrm>
            <a:off x="6997700" y="32893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2.11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80F605-38CB-8F07-F401-25825021F56A}"/>
              </a:ext>
            </a:extLst>
          </p:cNvPr>
          <p:cNvSpPr txBox="1"/>
          <p:nvPr/>
        </p:nvSpPr>
        <p:spPr>
          <a:xfrm>
            <a:off x="4381500" y="37528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GBK 029646A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3C9C8F-629A-AF33-0D66-30D14C1D81D4}"/>
              </a:ext>
            </a:extLst>
          </p:cNvPr>
          <p:cNvSpPr/>
          <p:nvPr/>
        </p:nvSpPr>
        <p:spPr>
          <a:xfrm>
            <a:off x="5524500" y="38163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E472BD2-07FD-5911-DE57-12636A9E261F}"/>
              </a:ext>
            </a:extLst>
          </p:cNvPr>
          <p:cNvSpPr/>
          <p:nvPr/>
        </p:nvSpPr>
        <p:spPr>
          <a:xfrm>
            <a:off x="5524500" y="3816350"/>
            <a:ext cx="5080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BC7B2DE-3AED-23C0-6C5B-D7986C9C7785}"/>
              </a:ext>
            </a:extLst>
          </p:cNvPr>
          <p:cNvSpPr txBox="1"/>
          <p:nvPr/>
        </p:nvSpPr>
        <p:spPr>
          <a:xfrm>
            <a:off x="6997700" y="37401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1.35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67583A-BE10-4A22-282C-BB650A4E39AB}"/>
              </a:ext>
            </a:extLst>
          </p:cNvPr>
          <p:cNvSpPr txBox="1"/>
          <p:nvPr/>
        </p:nvSpPr>
        <p:spPr>
          <a:xfrm>
            <a:off x="4381500" y="42037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8BFC91-2D72-E219-E7BD-A0CE7A906E4C}"/>
              </a:ext>
            </a:extLst>
          </p:cNvPr>
          <p:cNvSpPr/>
          <p:nvPr/>
        </p:nvSpPr>
        <p:spPr>
          <a:xfrm>
            <a:off x="5524500" y="42672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5CA5251-F5F5-B375-9A7C-EA55F26A83C3}"/>
              </a:ext>
            </a:extLst>
          </p:cNvPr>
          <p:cNvSpPr/>
          <p:nvPr/>
        </p:nvSpPr>
        <p:spPr>
          <a:xfrm>
            <a:off x="5524500" y="4267200"/>
            <a:ext cx="2540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8BC74E-A65D-69F4-68E0-045E8D34ECBA}"/>
              </a:ext>
            </a:extLst>
          </p:cNvPr>
          <p:cNvSpPr txBox="1"/>
          <p:nvPr/>
        </p:nvSpPr>
        <p:spPr>
          <a:xfrm>
            <a:off x="6997700" y="41910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0.70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C53EB4-9587-2105-B076-C53BC771F58D}"/>
              </a:ext>
            </a:extLst>
          </p:cNvPr>
          <p:cNvSpPr txBox="1"/>
          <p:nvPr/>
        </p:nvSpPr>
        <p:spPr>
          <a:xfrm>
            <a:off x="4381500" y="46545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ACC 29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EE74528-E261-8AEA-47F9-7EF8BD658101}"/>
              </a:ext>
            </a:extLst>
          </p:cNvPr>
          <p:cNvSpPr/>
          <p:nvPr/>
        </p:nvSpPr>
        <p:spPr>
          <a:xfrm>
            <a:off x="5524500" y="47180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9AC0C50-BFA8-1EEE-8EBC-ED0723FFC5F2}"/>
              </a:ext>
            </a:extLst>
          </p:cNvPr>
          <p:cNvSpPr/>
          <p:nvPr/>
        </p:nvSpPr>
        <p:spPr>
          <a:xfrm>
            <a:off x="5524500" y="4718050"/>
            <a:ext cx="215900" cy="127000"/>
          </a:xfrm>
          <a:prstGeom prst="rect">
            <a:avLst/>
          </a:prstGeom>
          <a:solidFill>
            <a:srgbClr val="2A47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021E54-87A5-985C-8425-C77E403A452B}"/>
              </a:ext>
            </a:extLst>
          </p:cNvPr>
          <p:cNvSpPr txBox="1"/>
          <p:nvPr/>
        </p:nvSpPr>
        <p:spPr>
          <a:xfrm>
            <a:off x="6997700" y="46418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0.60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3FACB8B-0B24-BDAD-0721-4528B26B844D}"/>
              </a:ext>
            </a:extLst>
          </p:cNvPr>
          <p:cNvSpPr/>
          <p:nvPr/>
        </p:nvSpPr>
        <p:spPr>
          <a:xfrm>
            <a:off x="8153400" y="1092200"/>
            <a:ext cx="3683000" cy="414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4AA10A-6461-000C-A137-179B75E121AA}"/>
              </a:ext>
            </a:extLst>
          </p:cNvPr>
          <p:cNvSpPr txBox="1"/>
          <p:nvPr/>
        </p:nvSpPr>
        <p:spPr>
          <a:xfrm>
            <a:off x="8305800" y="1193800"/>
            <a:ext cx="33782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412A1B"/>
                </a:solidFill>
              </a:rPr>
              <a:t>Tannin (mg/100g)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42D075-391E-0022-AAB9-2FF59ED9347C}"/>
              </a:ext>
            </a:extLst>
          </p:cNvPr>
          <p:cNvSpPr txBox="1"/>
          <p:nvPr/>
        </p:nvSpPr>
        <p:spPr>
          <a:xfrm>
            <a:off x="8280400" y="14986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EMIROITE-5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E9DDD57-C312-DE60-824F-BB009595F6A9}"/>
              </a:ext>
            </a:extLst>
          </p:cNvPr>
          <p:cNvSpPr/>
          <p:nvPr/>
        </p:nvSpPr>
        <p:spPr>
          <a:xfrm>
            <a:off x="9423400" y="15621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67CD8C1-FCAC-802D-027E-71C9AC49B1CE}"/>
              </a:ext>
            </a:extLst>
          </p:cNvPr>
          <p:cNvSpPr/>
          <p:nvPr/>
        </p:nvSpPr>
        <p:spPr>
          <a:xfrm>
            <a:off x="9423400" y="1562100"/>
            <a:ext cx="13970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1CD8CB-3A49-0A4E-AD83-F80E1D1A9A59}"/>
              </a:ext>
            </a:extLst>
          </p:cNvPr>
          <p:cNvSpPr txBox="1"/>
          <p:nvPr/>
        </p:nvSpPr>
        <p:spPr>
          <a:xfrm>
            <a:off x="10896600" y="14859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631.2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2AF9F4-8149-BA4A-53CB-FF0D9E666390}"/>
              </a:ext>
            </a:extLst>
          </p:cNvPr>
          <p:cNvSpPr txBox="1"/>
          <p:nvPr/>
        </p:nvSpPr>
        <p:spPr>
          <a:xfrm>
            <a:off x="8280400" y="19494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27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5896F73-E356-5961-6348-2E1EAB44FC1E}"/>
              </a:ext>
            </a:extLst>
          </p:cNvPr>
          <p:cNvSpPr/>
          <p:nvPr/>
        </p:nvSpPr>
        <p:spPr>
          <a:xfrm>
            <a:off x="9423400" y="20129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27B808F-0EC3-3038-EA29-488843F6B031}"/>
              </a:ext>
            </a:extLst>
          </p:cNvPr>
          <p:cNvSpPr/>
          <p:nvPr/>
        </p:nvSpPr>
        <p:spPr>
          <a:xfrm>
            <a:off x="9423400" y="2012950"/>
            <a:ext cx="11176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A2FC5D-BECB-C5F4-266D-404B9702D18B}"/>
              </a:ext>
            </a:extLst>
          </p:cNvPr>
          <p:cNvSpPr txBox="1"/>
          <p:nvPr/>
        </p:nvSpPr>
        <p:spPr>
          <a:xfrm>
            <a:off x="10896600" y="19367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505.6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CF44CA-ECE7-F96A-0E33-6516E5D150D3}"/>
              </a:ext>
            </a:extLst>
          </p:cNvPr>
          <p:cNvSpPr txBox="1"/>
          <p:nvPr/>
        </p:nvSpPr>
        <p:spPr>
          <a:xfrm>
            <a:off x="8280400" y="24003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KACCIMI 42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C08012C-205C-9678-6095-1666F6D33D90}"/>
              </a:ext>
            </a:extLst>
          </p:cNvPr>
          <p:cNvSpPr/>
          <p:nvPr/>
        </p:nvSpPr>
        <p:spPr>
          <a:xfrm>
            <a:off x="9423400" y="24638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842F064-7196-F995-E330-29E0AB1E73F8}"/>
              </a:ext>
            </a:extLst>
          </p:cNvPr>
          <p:cNvSpPr/>
          <p:nvPr/>
        </p:nvSpPr>
        <p:spPr>
          <a:xfrm>
            <a:off x="9423400" y="2463800"/>
            <a:ext cx="10668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81AAF51-43E1-5275-B184-A2E328C1DE0F}"/>
              </a:ext>
            </a:extLst>
          </p:cNvPr>
          <p:cNvSpPr txBox="1"/>
          <p:nvPr/>
        </p:nvSpPr>
        <p:spPr>
          <a:xfrm>
            <a:off x="10896600" y="23876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481.4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9E2B29-59FF-9B64-5B89-B1D38341C1EF}"/>
              </a:ext>
            </a:extLst>
          </p:cNvPr>
          <p:cNvSpPr txBox="1"/>
          <p:nvPr/>
        </p:nvSpPr>
        <p:spPr>
          <a:xfrm>
            <a:off x="8280400" y="28511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GBK 029646A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0D4115E-BAFD-C255-A97B-CBBBF832B0A5}"/>
              </a:ext>
            </a:extLst>
          </p:cNvPr>
          <p:cNvSpPr/>
          <p:nvPr/>
        </p:nvSpPr>
        <p:spPr>
          <a:xfrm>
            <a:off x="9423400" y="29146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2392331-8E31-0F34-8D27-524B06030078}"/>
              </a:ext>
            </a:extLst>
          </p:cNvPr>
          <p:cNvSpPr/>
          <p:nvPr/>
        </p:nvSpPr>
        <p:spPr>
          <a:xfrm>
            <a:off x="9423400" y="2914650"/>
            <a:ext cx="9271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531FEBC-918D-2453-F7D5-938D276D40BD}"/>
              </a:ext>
            </a:extLst>
          </p:cNvPr>
          <p:cNvSpPr txBox="1"/>
          <p:nvPr/>
        </p:nvSpPr>
        <p:spPr>
          <a:xfrm>
            <a:off x="10896600" y="28384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418.6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4ED9A4-AE8B-24CE-F564-13A3F8A33FDD}"/>
              </a:ext>
            </a:extLst>
          </p:cNvPr>
          <p:cNvSpPr txBox="1"/>
          <p:nvPr/>
        </p:nvSpPr>
        <p:spPr>
          <a:xfrm>
            <a:off x="8280400" y="33020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U-15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D08158A-9AAF-AB22-9344-7F3ADB3EA8DC}"/>
              </a:ext>
            </a:extLst>
          </p:cNvPr>
          <p:cNvSpPr/>
          <p:nvPr/>
        </p:nvSpPr>
        <p:spPr>
          <a:xfrm>
            <a:off x="9423400" y="33655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86847D3-6B63-A01C-87BE-BE98D0F1DD63}"/>
              </a:ext>
            </a:extLst>
          </p:cNvPr>
          <p:cNvSpPr/>
          <p:nvPr/>
        </p:nvSpPr>
        <p:spPr>
          <a:xfrm>
            <a:off x="9423400" y="3365500"/>
            <a:ext cx="9017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17D259C-82F3-7E8A-EA6F-B1C9278388BC}"/>
              </a:ext>
            </a:extLst>
          </p:cNvPr>
          <p:cNvSpPr txBox="1"/>
          <p:nvPr/>
        </p:nvSpPr>
        <p:spPr>
          <a:xfrm>
            <a:off x="10896600" y="32893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407.3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9D5942-D8A4-A7CC-409C-2E730C2AB392}"/>
              </a:ext>
            </a:extLst>
          </p:cNvPr>
          <p:cNvSpPr txBox="1"/>
          <p:nvPr/>
        </p:nvSpPr>
        <p:spPr>
          <a:xfrm>
            <a:off x="8280400" y="37528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5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DA62623-2FF3-A4FB-27AA-10DB83DA1817}"/>
              </a:ext>
            </a:extLst>
          </p:cNvPr>
          <p:cNvSpPr/>
          <p:nvPr/>
        </p:nvSpPr>
        <p:spPr>
          <a:xfrm>
            <a:off x="9423400" y="38163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EC7F928-F113-952B-EBCA-89B504343884}"/>
              </a:ext>
            </a:extLst>
          </p:cNvPr>
          <p:cNvSpPr/>
          <p:nvPr/>
        </p:nvSpPr>
        <p:spPr>
          <a:xfrm>
            <a:off x="9423400" y="3816350"/>
            <a:ext cx="8001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32257A-8CCA-9A59-412B-7EE90805E9A6}"/>
              </a:ext>
            </a:extLst>
          </p:cNvPr>
          <p:cNvSpPr txBox="1"/>
          <p:nvPr/>
        </p:nvSpPr>
        <p:spPr>
          <a:xfrm>
            <a:off x="10896600" y="37401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362.4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EA96393-2C25-44C0-9E56-F02183EF2DD0}"/>
              </a:ext>
            </a:extLst>
          </p:cNvPr>
          <p:cNvSpPr txBox="1"/>
          <p:nvPr/>
        </p:nvSpPr>
        <p:spPr>
          <a:xfrm>
            <a:off x="8280400" y="420370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KAKISEMI 6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FC99487-71C3-C09B-ABCA-289B7072A8F8}"/>
              </a:ext>
            </a:extLst>
          </p:cNvPr>
          <p:cNvSpPr/>
          <p:nvPr/>
        </p:nvSpPr>
        <p:spPr>
          <a:xfrm>
            <a:off x="9423400" y="426720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AC697F8-9577-9115-DEB9-63BB496789A5}"/>
              </a:ext>
            </a:extLst>
          </p:cNvPr>
          <p:cNvSpPr/>
          <p:nvPr/>
        </p:nvSpPr>
        <p:spPr>
          <a:xfrm>
            <a:off x="9423400" y="4267200"/>
            <a:ext cx="7874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95AE81F-4182-C015-820B-0A9E6E338A82}"/>
              </a:ext>
            </a:extLst>
          </p:cNvPr>
          <p:cNvSpPr txBox="1"/>
          <p:nvPr/>
        </p:nvSpPr>
        <p:spPr>
          <a:xfrm>
            <a:off x="10896600" y="41910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355.4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59026A7-4976-8DE4-0610-6D7D1D301FC9}"/>
              </a:ext>
            </a:extLst>
          </p:cNvPr>
          <p:cNvSpPr txBox="1"/>
          <p:nvPr/>
        </p:nvSpPr>
        <p:spPr>
          <a:xfrm>
            <a:off x="8280400" y="4654550"/>
            <a:ext cx="1117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111111"/>
                </a:solidFill>
              </a:rPr>
              <a:t>ICFX142608-4-1-1-1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6F83EAF-A949-F4E9-3DB5-2C27929C4888}"/>
              </a:ext>
            </a:extLst>
          </p:cNvPr>
          <p:cNvSpPr/>
          <p:nvPr/>
        </p:nvSpPr>
        <p:spPr>
          <a:xfrm>
            <a:off x="9423400" y="4718050"/>
            <a:ext cx="1397000" cy="127000"/>
          </a:xfrm>
          <a:prstGeom prst="rect">
            <a:avLst/>
          </a:prstGeom>
          <a:solidFill>
            <a:srgbClr val="F3ED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BA58218-A722-4CC4-6174-CC97C24401FD}"/>
              </a:ext>
            </a:extLst>
          </p:cNvPr>
          <p:cNvSpPr/>
          <p:nvPr/>
        </p:nvSpPr>
        <p:spPr>
          <a:xfrm>
            <a:off x="9423400" y="4718050"/>
            <a:ext cx="762000" cy="127000"/>
          </a:xfrm>
          <a:prstGeom prst="rect">
            <a:avLst/>
          </a:prstGeom>
          <a:solidFill>
            <a:srgbClr val="CF6E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21CFF9C-19A5-DCB8-1E28-2AC585F56F57}"/>
              </a:ext>
            </a:extLst>
          </p:cNvPr>
          <p:cNvSpPr txBox="1"/>
          <p:nvPr/>
        </p:nvSpPr>
        <p:spPr>
          <a:xfrm>
            <a:off x="10896600" y="464185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111111"/>
                </a:solidFill>
              </a:rPr>
              <a:t>342.1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336A0DD-0359-6E84-AB76-60664BF1F4E5}"/>
              </a:ext>
            </a:extLst>
          </p:cNvPr>
          <p:cNvSpPr/>
          <p:nvPr/>
        </p:nvSpPr>
        <p:spPr>
          <a:xfrm>
            <a:off x="355600" y="5410200"/>
            <a:ext cx="11480800" cy="939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DFA76EB-ED7B-38B2-E7CF-0A63F602617D}"/>
              </a:ext>
            </a:extLst>
          </p:cNvPr>
          <p:cNvSpPr txBox="1"/>
          <p:nvPr/>
        </p:nvSpPr>
        <p:spPr>
          <a:xfrm>
            <a:off x="508000" y="5588000"/>
            <a:ext cx="11176000" cy="5129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U-15 and Kakisemi 35 stand out on total phenol, while Kakisemi 6 and Kakisemi 27 stand out on flavonoids.</a:t>
            </a:r>
          </a:p>
          <a:p>
            <a:pPr marL="228600" indent="-228600">
              <a:spcAft>
                <a:spcPts val="400"/>
              </a:spcAft>
              <a:buFont typeface="+mj-lt"/>
              <a:buChar char="•"/>
            </a:pPr>
            <a:r>
              <a:rPr lang="en-US" sz="1200">
                <a:solidFill>
                  <a:srgbClr val="111111"/>
                </a:solidFill>
              </a:rPr>
              <a:t>Emiroite-5 shows the strongest tannin signal, indicating strong phytochemical activity but also higher antinutrient burden.</a:t>
            </a:r>
          </a:p>
        </p:txBody>
      </p:sp>
    </p:spTree>
    <p:extLst>
      <p:ext uri="{BB962C8B-B14F-4D97-AF65-F5344CB8AC3E}">
        <p14:creationId xmlns:p14="http://schemas.microsoft.com/office/powerpoint/2010/main" val="423186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CB4DBF-B224-1252-22E6-22BF993B4AAC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F88F9-F6E2-BE4A-1398-4409BF776238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Consolidated Phytochemical Results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B04E6-2D0B-C96B-249F-190DAB983C1B}"/>
              </a:ext>
            </a:extLst>
          </p:cNvPr>
          <p:cNvSpPr txBox="1"/>
          <p:nvPr/>
        </p:nvSpPr>
        <p:spPr>
          <a:xfrm>
            <a:off x="8255000" y="228600"/>
            <a:ext cx="342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100">
                <a:solidFill>
                  <a:srgbClr val="F7F5F4"/>
                </a:solidFill>
              </a:rPr>
              <a:t>16 varieties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B35965-6241-C90E-7C73-9A9BD974E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38014"/>
              </p:ext>
            </p:extLst>
          </p:nvPr>
        </p:nvGraphicFramePr>
        <p:xfrm>
          <a:off x="431800" y="1041400"/>
          <a:ext cx="11328400" cy="490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100">
                  <a:extLst>
                    <a:ext uri="{9D8B030D-6E8A-4147-A177-3AD203B41FA5}">
                      <a16:colId xmlns:a16="http://schemas.microsoft.com/office/drawing/2014/main" val="3714203016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1275312144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4159901397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1659069653"/>
                    </a:ext>
                  </a:extLst>
                </a:gridCol>
              </a:tblGrid>
              <a:tr h="28836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Variety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Phenol (mg/100g)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Flavonoids (g/100g)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Tannin (mg/100g)</a:t>
                      </a:r>
                    </a:p>
                  </a:txBody>
                  <a:tcPr>
                    <a:solidFill>
                      <a:srgbClr val="412A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416766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IE 4115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45.381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3.427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325.218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74686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ACC 29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52.901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0.596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189.385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595330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EMIROITE-5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75.263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0.321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631.155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964849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GBK 029646A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36.742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1.347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418.598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062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ICFX1420421-3-6-1-1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33.351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0.187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302.850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975368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ICFX142591-2-2-1-1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25.925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0.436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229.931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078154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ICFX142608-4-1-1-1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23.466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0.351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342.078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856653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IKHULULE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12.431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0.572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111.990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314517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KACCIMI 42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23.475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0.333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481.383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214999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15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29.887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0.255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171.195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712184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27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37.712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3.707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505.561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871963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35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80.531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2.112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333.261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45795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4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40.610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0.160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330.111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212915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53.428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0.695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362.426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55138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KAKISEMI 6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32.256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3.750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355.384</a:t>
                      </a:r>
                    </a:p>
                  </a:txBody>
                  <a:tcPr>
                    <a:solidFill>
                      <a:srgbClr val="FC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219473"/>
                  </a:ext>
                </a:extLst>
              </a:tr>
              <a:tr h="288365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U-15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92.511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2.278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rgbClr val="111111"/>
                          </a:solidFill>
                        </a:rPr>
                        <a:t>407.323</a:t>
                      </a:r>
                    </a:p>
                  </a:txBody>
                  <a:tcPr>
                    <a:solidFill>
                      <a:srgbClr val="F8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05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972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3EBBEB-176C-AFB5-B80F-EC90CE2B7D13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C1F6F-CF72-AA86-0E3E-F4193442E482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Key Discussion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4ADC05-B1F7-DFFD-FCC9-F9E4807DB28C}"/>
              </a:ext>
            </a:extLst>
          </p:cNvPr>
          <p:cNvSpPr/>
          <p:nvPr/>
        </p:nvSpPr>
        <p:spPr>
          <a:xfrm>
            <a:off x="431800" y="1066800"/>
            <a:ext cx="5435600" cy="462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E9314-D717-A4B3-D472-3BCF77DA047E}"/>
              </a:ext>
            </a:extLst>
          </p:cNvPr>
          <p:cNvSpPr txBox="1"/>
          <p:nvPr/>
        </p:nvSpPr>
        <p:spPr>
          <a:xfrm>
            <a:off x="660400" y="12700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412A1B"/>
                </a:solidFill>
              </a:rPr>
              <a:t>What the current data show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4473D-72B6-C269-1CD2-7374CDC2D78A}"/>
              </a:ext>
            </a:extLst>
          </p:cNvPr>
          <p:cNvSpPr txBox="1"/>
          <p:nvPr/>
        </p:nvSpPr>
        <p:spPr>
          <a:xfrm>
            <a:off x="660400" y="1651000"/>
            <a:ext cx="4826000" cy="21852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Finger millet varieties differ meaningfully in both nutritional and phytochemical composition.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Moisture and ash show relatively tighter clustering, while fibre, protein and phytochemical traits differentiate varieties more strongly.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The data support variety screening as a necessary first step before processing and GI work.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High bioactive potential must be interpreted together with tannin burden, not in isolation.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6D4DC7-E8DC-86F6-0252-F17B6415F176}"/>
              </a:ext>
            </a:extLst>
          </p:cNvPr>
          <p:cNvSpPr/>
          <p:nvPr/>
        </p:nvSpPr>
        <p:spPr>
          <a:xfrm>
            <a:off x="6223000" y="1066800"/>
            <a:ext cx="5537200" cy="4622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00BB2-BA4F-BCBA-72A5-06B21A7E46CA}"/>
              </a:ext>
            </a:extLst>
          </p:cNvPr>
          <p:cNvSpPr txBox="1"/>
          <p:nvPr/>
        </p:nvSpPr>
        <p:spPr>
          <a:xfrm>
            <a:off x="6451600" y="1270000"/>
            <a:ext cx="495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412A1B"/>
                </a:solidFill>
              </a:rPr>
              <a:t>Best discussion points for oral delivery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A6050-4D31-9CF3-56BA-ACE10FE8668B}"/>
              </a:ext>
            </a:extLst>
          </p:cNvPr>
          <p:cNvSpPr txBox="1"/>
          <p:nvPr/>
        </p:nvSpPr>
        <p:spPr>
          <a:xfrm>
            <a:off x="6451600" y="1651000"/>
            <a:ext cx="4953000" cy="21852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U-15 appears promising due to very high total phenol with acceptable protein performance.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Kakisemi 27 and Kakisemi 6 stand out for flavonoids and may be good contrasting candidates.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Ikhulule is notable for fibre and low phenol/tannin, which may make it useful as a contrasting low-antinutrient comparator.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400">
                <a:solidFill>
                  <a:srgbClr val="111111"/>
                </a:solidFill>
              </a:rPr>
              <a:t>These trends justify moving to processing trials on selected contrasting varieties rather than all sixteen.</a:t>
            </a:r>
          </a:p>
        </p:txBody>
      </p:sp>
    </p:spTree>
    <p:extLst>
      <p:ext uri="{BB962C8B-B14F-4D97-AF65-F5344CB8AC3E}">
        <p14:creationId xmlns:p14="http://schemas.microsoft.com/office/powerpoint/2010/main" val="3575515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5E466E4-9D30-6EF2-0E03-8D52C33F8429}"/>
              </a:ext>
            </a:extLst>
          </p:cNvPr>
          <p:cNvSpPr/>
          <p:nvPr/>
        </p:nvSpPr>
        <p:spPr>
          <a:xfrm>
            <a:off x="228600" y="177800"/>
            <a:ext cx="11734800" cy="508000"/>
          </a:xfrm>
          <a:prstGeom prst="roundRect">
            <a:avLst>
              <a:gd name="adj" fmla="val 12000"/>
            </a:avLst>
          </a:prstGeom>
          <a:solidFill>
            <a:srgbClr val="412A1B"/>
          </a:solidFill>
          <a:ln>
            <a:solidFill>
              <a:srgbClr val="412A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369E0-D7E1-5C07-81D5-A3776E1C73F3}"/>
              </a:ext>
            </a:extLst>
          </p:cNvPr>
          <p:cNvSpPr txBox="1"/>
          <p:nvPr/>
        </p:nvSpPr>
        <p:spPr>
          <a:xfrm>
            <a:off x="431800" y="228600"/>
            <a:ext cx="889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Next Steps and Reporting Close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6E715D-8B90-F37C-088D-ABF7292E22DD}"/>
              </a:ext>
            </a:extLst>
          </p:cNvPr>
          <p:cNvSpPr/>
          <p:nvPr/>
        </p:nvSpPr>
        <p:spPr>
          <a:xfrm>
            <a:off x="482600" y="1117600"/>
            <a:ext cx="3479800" cy="391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EB70F0-02EA-DE90-3FD1-AA73C40D747C}"/>
              </a:ext>
            </a:extLst>
          </p:cNvPr>
          <p:cNvSpPr/>
          <p:nvPr/>
        </p:nvSpPr>
        <p:spPr>
          <a:xfrm>
            <a:off x="4368800" y="1117600"/>
            <a:ext cx="3479800" cy="391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5ED4D3-A3A7-5E7D-C8EC-07F42B81FAFB}"/>
              </a:ext>
            </a:extLst>
          </p:cNvPr>
          <p:cNvSpPr/>
          <p:nvPr/>
        </p:nvSpPr>
        <p:spPr>
          <a:xfrm>
            <a:off x="8255000" y="1117600"/>
            <a:ext cx="3479800" cy="391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3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192FFF-DB61-53FB-CA07-98F60E20428C}"/>
              </a:ext>
            </a:extLst>
          </p:cNvPr>
          <p:cNvSpPr txBox="1"/>
          <p:nvPr/>
        </p:nvSpPr>
        <p:spPr>
          <a:xfrm>
            <a:off x="711200" y="1371600"/>
            <a:ext cx="29972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412A1B"/>
                </a:solidFill>
              </a:rPr>
              <a:t>Immediate next analyses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C4510-4B63-1E38-5F6E-7715079886ED}"/>
              </a:ext>
            </a:extLst>
          </p:cNvPr>
          <p:cNvSpPr txBox="1"/>
          <p:nvPr/>
        </p:nvSpPr>
        <p:spPr>
          <a:xfrm>
            <a:off x="711200" y="1803400"/>
            <a:ext cx="2997200" cy="11951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Complete mineral and fat analysis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Finalize selection of 2 contrasting varieties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Prepare processing experiment materials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0DDDB-3343-D5BE-834E-83E9A49A7735}"/>
              </a:ext>
            </a:extLst>
          </p:cNvPr>
          <p:cNvSpPr txBox="1"/>
          <p:nvPr/>
        </p:nvSpPr>
        <p:spPr>
          <a:xfrm>
            <a:off x="4597400" y="1371600"/>
            <a:ext cx="29972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412A1B"/>
                </a:solidFill>
              </a:rPr>
              <a:t>Phase 2 direction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6C98F-6ACD-C9BB-541E-D88B23CD3E7C}"/>
              </a:ext>
            </a:extLst>
          </p:cNvPr>
          <p:cNvSpPr txBox="1"/>
          <p:nvPr/>
        </p:nvSpPr>
        <p:spPr>
          <a:xfrm>
            <a:off x="4597400" y="1803400"/>
            <a:ext cx="2997200" cy="13952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Apply soaking, fermentation and extrusion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Track changes in tannins, phytates, phenols and flavonoids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Identify the method that best improves nutritional quality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E541EF-278A-9415-8103-365005CC497B}"/>
              </a:ext>
            </a:extLst>
          </p:cNvPr>
          <p:cNvSpPr txBox="1"/>
          <p:nvPr/>
        </p:nvSpPr>
        <p:spPr>
          <a:xfrm>
            <a:off x="8483600" y="1371600"/>
            <a:ext cx="29972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412A1B"/>
                </a:solidFill>
              </a:rPr>
              <a:t>Phase 3 close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02ED1-C3B4-7913-DA5A-F7B310F5E2BF}"/>
              </a:ext>
            </a:extLst>
          </p:cNvPr>
          <p:cNvSpPr txBox="1"/>
          <p:nvPr/>
        </p:nvSpPr>
        <p:spPr>
          <a:xfrm>
            <a:off x="8483600" y="1803400"/>
            <a:ext cx="2997200" cy="13952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Run in vivo glycemic index on optimized porridge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Compare blood glucose response with reference food</a:t>
            </a:r>
          </a:p>
          <a:p>
            <a:pPr marL="342900" indent="-342900">
              <a:spcAft>
                <a:spcPts val="400"/>
              </a:spcAft>
              <a:buFont typeface="+mj-lt"/>
              <a:buChar char="•"/>
            </a:pPr>
            <a:r>
              <a:rPr lang="en-US" sz="1300">
                <a:solidFill>
                  <a:srgbClr val="111111"/>
                </a:solidFill>
              </a:rPr>
              <a:t>Use results to support low-GI finger millet recommendations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51E65-4CA4-D0D2-4031-AD1C32F378AF}"/>
              </a:ext>
            </a:extLst>
          </p:cNvPr>
          <p:cNvSpPr txBox="1"/>
          <p:nvPr/>
        </p:nvSpPr>
        <p:spPr>
          <a:xfrm>
            <a:off x="533400" y="5461000"/>
            <a:ext cx="1092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B83024"/>
                </a:solidFill>
              </a:rPr>
              <a:t>Close with one sentence: current results confirm strong varietal differences and provide a defensible basis for the next processing and GI stages.</a:t>
            </a:r>
          </a:p>
        </p:txBody>
      </p:sp>
    </p:spTree>
    <p:extLst>
      <p:ext uri="{BB962C8B-B14F-4D97-AF65-F5344CB8AC3E}">
        <p14:creationId xmlns:p14="http://schemas.microsoft.com/office/powerpoint/2010/main" val="2419000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Microsoft Office PowerPoint</Application>
  <PresentationFormat>Custom</PresentationFormat>
  <Paragraphs>352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Tendai Murambidzi</dc:creator>
  <cp:lastModifiedBy>Tendai Murambidzi</cp:lastModifiedBy>
  <cp:revision>1</cp:revision>
  <dcterms:created xsi:type="dcterms:W3CDTF">2026-03-28T09:17:57Z</dcterms:created>
  <dcterms:modified xsi:type="dcterms:W3CDTF">2026-03-28T09:17:57Z</dcterms:modified>
</cp:coreProperties>
</file>